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Lst>
  <p:sldSz cx="18288000" cy="10287000"/>
  <p:notesSz cx="6858000" cy="9144000"/>
  <p:embeddedFontLst>
    <p:embeddedFont>
      <p:font typeface="Chau Philomene" panose="02000806040000020003"/>
      <p:regular r:id="rId11"/>
    </p:embeddedFont>
    <p:embeddedFont>
      <p:font typeface="DM Sans" pitchFamily="2" charset="77"/>
      <p:regular r:id="rId12"/>
    </p:embeddedFont>
    <p:embeddedFont>
      <p:font typeface="DM Sans Italics" pitchFamily="2" charset="77"/>
      <p:regular r:id="rId13"/>
      <p: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6" autoAdjust="0"/>
  </p:normalViewPr>
  <p:slideViewPr>
    <p:cSldViewPr>
      <p:cViewPr varScale="1">
        <p:scale>
          <a:sx n="80" d="100"/>
          <a:sy n="80" d="100"/>
        </p:scale>
        <p:origin x="824"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2.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8.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svg"/><Relationship Id="rId7"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1591031" y="3162706"/>
            <a:ext cx="5647563" cy="8229600"/>
          </a:xfrm>
          <a:custGeom>
            <a:avLst/>
            <a:gdLst/>
            <a:ahLst/>
            <a:cxnLst/>
            <a:rect l="l" t="t" r="r" b="b"/>
            <a:pathLst>
              <a:path w="5647563" h="8229600">
                <a:moveTo>
                  <a:pt x="0" y="0"/>
                </a:moveTo>
                <a:lnTo>
                  <a:pt x="5647563" y="0"/>
                </a:lnTo>
                <a:lnTo>
                  <a:pt x="5647563" y="8229600"/>
                </a:lnTo>
                <a:lnTo>
                  <a:pt x="0" y="8229600"/>
                </a:lnTo>
                <a:lnTo>
                  <a:pt x="0" y="0"/>
                </a:lnTo>
                <a:close/>
              </a:path>
            </a:pathLst>
          </a:custGeom>
          <a:blipFill>
            <a:blip r:embed="rId2"/>
            <a:stretch>
              <a:fillRect/>
            </a:stretch>
          </a:blipFill>
        </p:spPr>
      </p:sp>
      <p:sp>
        <p:nvSpPr>
          <p:cNvPr id="3" name="TextBox 3"/>
          <p:cNvSpPr txBox="1"/>
          <p:nvPr/>
        </p:nvSpPr>
        <p:spPr>
          <a:xfrm>
            <a:off x="3402607" y="3100252"/>
            <a:ext cx="11482787" cy="3940840"/>
          </a:xfrm>
          <a:prstGeom prst="rect">
            <a:avLst/>
          </a:prstGeom>
        </p:spPr>
        <p:txBody>
          <a:bodyPr lIns="0" tIns="0" rIns="0" bIns="0" rtlCol="0" anchor="t">
            <a:spAutoFit/>
          </a:bodyPr>
          <a:lstStyle/>
          <a:p>
            <a:pPr algn="ctr">
              <a:lnSpc>
                <a:spcPts val="15099"/>
              </a:lnSpc>
            </a:pPr>
            <a:r>
              <a:rPr lang="en-US" sz="15566">
                <a:solidFill>
                  <a:srgbClr val="3F771E"/>
                </a:solidFill>
                <a:latin typeface="Chau Philomene"/>
                <a:ea typeface="Chau Philomene"/>
                <a:cs typeface="Chau Philomene"/>
                <a:sym typeface="Chau Philomene"/>
              </a:rPr>
              <a:t>FUNGICIDE EXPLORATION</a:t>
            </a:r>
          </a:p>
        </p:txBody>
      </p:sp>
      <p:sp>
        <p:nvSpPr>
          <p:cNvPr id="4" name="Freeform 4"/>
          <p:cNvSpPr/>
          <p:nvPr/>
        </p:nvSpPr>
        <p:spPr>
          <a:xfrm>
            <a:off x="7570193" y="8939973"/>
            <a:ext cx="7315200" cy="3458095"/>
          </a:xfrm>
          <a:custGeom>
            <a:avLst/>
            <a:gdLst/>
            <a:ahLst/>
            <a:cxnLst/>
            <a:rect l="l" t="t" r="r" b="b"/>
            <a:pathLst>
              <a:path w="7315200" h="3458095">
                <a:moveTo>
                  <a:pt x="0" y="0"/>
                </a:moveTo>
                <a:lnTo>
                  <a:pt x="7315200" y="0"/>
                </a:lnTo>
                <a:lnTo>
                  <a:pt x="7315200" y="3458095"/>
                </a:lnTo>
                <a:lnTo>
                  <a:pt x="0" y="3458095"/>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
        <p:nvSpPr>
          <p:cNvPr id="5" name="Freeform 5"/>
          <p:cNvSpPr/>
          <p:nvPr/>
        </p:nvSpPr>
        <p:spPr>
          <a:xfrm>
            <a:off x="13966900" y="5423594"/>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22667" y="6554220"/>
            <a:ext cx="5062953" cy="4114800"/>
          </a:xfrm>
          <a:custGeom>
            <a:avLst/>
            <a:gdLst/>
            <a:ahLst/>
            <a:cxnLst/>
            <a:rect l="l" t="t" r="r" b="b"/>
            <a:pathLst>
              <a:path w="5062953" h="4114800">
                <a:moveTo>
                  <a:pt x="0" y="0"/>
                </a:moveTo>
                <a:lnTo>
                  <a:pt x="5062953" y="0"/>
                </a:lnTo>
                <a:lnTo>
                  <a:pt x="50629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3516996">
            <a:off x="14320434" y="-2372404"/>
            <a:ext cx="6669405" cy="8229600"/>
          </a:xfrm>
          <a:custGeom>
            <a:avLst/>
            <a:gdLst/>
            <a:ahLst/>
            <a:cxnLst/>
            <a:rect l="l" t="t" r="r" b="b"/>
            <a:pathLst>
              <a:path w="6669405" h="8229600">
                <a:moveTo>
                  <a:pt x="0" y="0"/>
                </a:moveTo>
                <a:lnTo>
                  <a:pt x="6669405" y="0"/>
                </a:lnTo>
                <a:lnTo>
                  <a:pt x="6669405" y="8229600"/>
                </a:lnTo>
                <a:lnTo>
                  <a:pt x="0" y="8229600"/>
                </a:lnTo>
                <a:lnTo>
                  <a:pt x="0" y="0"/>
                </a:lnTo>
                <a:close/>
              </a:path>
            </a:pathLst>
          </a:custGeom>
          <a:blipFill>
            <a:blip r:embed="rId6"/>
            <a:stretch>
              <a:fillRect/>
            </a:stretch>
          </a:blipFill>
        </p:spPr>
      </p:sp>
      <p:sp>
        <p:nvSpPr>
          <p:cNvPr id="8" name="Freeform 8"/>
          <p:cNvSpPr/>
          <p:nvPr/>
        </p:nvSpPr>
        <p:spPr>
          <a:xfrm>
            <a:off x="3234023" y="7277506"/>
            <a:ext cx="4816697" cy="4114800"/>
          </a:xfrm>
          <a:custGeom>
            <a:avLst/>
            <a:gdLst/>
            <a:ahLst/>
            <a:cxnLst/>
            <a:rect l="l" t="t" r="r" b="b"/>
            <a:pathLst>
              <a:path w="4816697" h="4114800">
                <a:moveTo>
                  <a:pt x="0" y="0"/>
                </a:moveTo>
                <a:lnTo>
                  <a:pt x="4816697" y="0"/>
                </a:lnTo>
                <a:lnTo>
                  <a:pt x="4816697"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rot="6309934">
            <a:off x="7417961" y="-2077549"/>
            <a:ext cx="2687667" cy="4737875"/>
          </a:xfrm>
          <a:custGeom>
            <a:avLst/>
            <a:gdLst/>
            <a:ahLst/>
            <a:cxnLst/>
            <a:rect l="l" t="t" r="r" b="b"/>
            <a:pathLst>
              <a:path w="2687667" h="4737875">
                <a:moveTo>
                  <a:pt x="0" y="0"/>
                </a:moveTo>
                <a:lnTo>
                  <a:pt x="2687667" y="0"/>
                </a:lnTo>
                <a:lnTo>
                  <a:pt x="2687667" y="4737875"/>
                </a:lnTo>
                <a:lnTo>
                  <a:pt x="0" y="4737875"/>
                </a:lnTo>
                <a:lnTo>
                  <a:pt x="0" y="0"/>
                </a:lnTo>
                <a:close/>
              </a:path>
            </a:pathLst>
          </a:custGeom>
          <a:blipFill>
            <a:blip>
              <a:alphaModFix amt="38000"/>
              <a:extLst>
                <a:ext uri="{96DAC541-7B7A-43D3-8B79-37D633B846F1}">
                  <asvg:svgBlip xmlns:asvg="http://schemas.microsoft.com/office/drawing/2016/SVG/main" r:embed="rId8"/>
                </a:ext>
              </a:extLst>
            </a:blip>
            <a:stretch>
              <a:fillRect/>
            </a:stretch>
          </a:blipFill>
        </p:spPr>
      </p:sp>
      <p:sp>
        <p:nvSpPr>
          <p:cNvPr id="10" name="Freeform 10"/>
          <p:cNvSpPr/>
          <p:nvPr/>
        </p:nvSpPr>
        <p:spPr>
          <a:xfrm>
            <a:off x="-1591031" y="-1137320"/>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9"/>
            <a:stretch>
              <a:fillRect/>
            </a:stretch>
          </a:blipFill>
        </p:spPr>
      </p:sp>
      <p:sp>
        <p:nvSpPr>
          <p:cNvPr id="11" name="TextBox 11"/>
          <p:cNvSpPr txBox="1"/>
          <p:nvPr/>
        </p:nvSpPr>
        <p:spPr>
          <a:xfrm>
            <a:off x="4729301" y="6791855"/>
            <a:ext cx="8829398" cy="1380477"/>
          </a:xfrm>
          <a:prstGeom prst="rect">
            <a:avLst/>
          </a:prstGeom>
        </p:spPr>
        <p:txBody>
          <a:bodyPr lIns="0" tIns="0" rIns="0" bIns="0" rtlCol="0" anchor="t">
            <a:spAutoFit/>
          </a:bodyPr>
          <a:lstStyle/>
          <a:p>
            <a:pPr algn="ctr">
              <a:lnSpc>
                <a:spcPts val="3710"/>
              </a:lnSpc>
            </a:pPr>
            <a:r>
              <a:rPr lang="en-US" sz="2650" spc="29">
                <a:solidFill>
                  <a:srgbClr val="000000"/>
                </a:solidFill>
                <a:latin typeface="DM Sans"/>
                <a:ea typeface="DM Sans"/>
                <a:cs typeface="DM Sans"/>
                <a:sym typeface="DM Sans"/>
              </a:rPr>
              <a:t>The Effects of Different Fungicides on the Yields of Corn Crops</a:t>
            </a:r>
          </a:p>
          <a:p>
            <a:pPr algn="ctr">
              <a:lnSpc>
                <a:spcPts val="3710"/>
              </a:lnSpc>
            </a:pPr>
            <a:r>
              <a:rPr lang="en-US" sz="2650" spc="29">
                <a:solidFill>
                  <a:srgbClr val="000000"/>
                </a:solidFill>
                <a:latin typeface="DM Sans"/>
                <a:ea typeface="DM Sans"/>
                <a:cs typeface="DM Sans"/>
                <a:sym typeface="DM Sans"/>
              </a:rPr>
              <a:t>BIS15L | Group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484223"/>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Our Team</a:t>
            </a:r>
          </a:p>
        </p:txBody>
      </p:sp>
      <p:sp>
        <p:nvSpPr>
          <p:cNvPr id="3" name="Freeform 3"/>
          <p:cNvSpPr/>
          <p:nvPr/>
        </p:nvSpPr>
        <p:spPr>
          <a:xfrm>
            <a:off x="-1591031" y="5423594"/>
            <a:ext cx="4096029" cy="5968712"/>
          </a:xfrm>
          <a:custGeom>
            <a:avLst/>
            <a:gdLst/>
            <a:ahLst/>
            <a:cxnLst/>
            <a:rect l="l" t="t" r="r" b="b"/>
            <a:pathLst>
              <a:path w="4096029" h="5968712">
                <a:moveTo>
                  <a:pt x="0" y="0"/>
                </a:moveTo>
                <a:lnTo>
                  <a:pt x="4096029" y="0"/>
                </a:lnTo>
                <a:lnTo>
                  <a:pt x="4096029" y="5968712"/>
                </a:lnTo>
                <a:lnTo>
                  <a:pt x="0" y="5968712"/>
                </a:lnTo>
                <a:lnTo>
                  <a:pt x="0" y="0"/>
                </a:lnTo>
                <a:close/>
              </a:path>
            </a:pathLst>
          </a:custGeom>
          <a:blipFill>
            <a:blip r:embed="rId2"/>
            <a:stretch>
              <a:fillRect/>
            </a:stretch>
          </a:blipFill>
        </p:spPr>
      </p:sp>
      <p:sp>
        <p:nvSpPr>
          <p:cNvPr id="4" name="Freeform 4"/>
          <p:cNvSpPr/>
          <p:nvPr/>
        </p:nvSpPr>
        <p:spPr>
          <a:xfrm>
            <a:off x="-122667" y="8153273"/>
            <a:ext cx="3095439" cy="2515748"/>
          </a:xfrm>
          <a:custGeom>
            <a:avLst/>
            <a:gdLst/>
            <a:ahLst/>
            <a:cxnLst/>
            <a:rect l="l" t="t" r="r" b="b"/>
            <a:pathLst>
              <a:path w="3095439" h="2515748">
                <a:moveTo>
                  <a:pt x="0" y="0"/>
                </a:moveTo>
                <a:lnTo>
                  <a:pt x="3095439" y="0"/>
                </a:lnTo>
                <a:lnTo>
                  <a:pt x="3095439" y="2515747"/>
                </a:lnTo>
                <a:lnTo>
                  <a:pt x="0" y="25157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815563" y="5647976"/>
            <a:ext cx="6085715" cy="5198895"/>
          </a:xfrm>
          <a:custGeom>
            <a:avLst/>
            <a:gdLst/>
            <a:ahLst/>
            <a:cxnLst/>
            <a:rect l="l" t="t" r="r" b="b"/>
            <a:pathLst>
              <a:path w="6085715" h="5198895">
                <a:moveTo>
                  <a:pt x="0" y="0"/>
                </a:moveTo>
                <a:lnTo>
                  <a:pt x="6085715" y="0"/>
                </a:lnTo>
                <a:lnTo>
                  <a:pt x="6085715" y="5198894"/>
                </a:lnTo>
                <a:lnTo>
                  <a:pt x="0" y="519889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8417238" y="8579079"/>
            <a:ext cx="8842062" cy="4179884"/>
          </a:xfrm>
          <a:custGeom>
            <a:avLst/>
            <a:gdLst/>
            <a:ahLst/>
            <a:cxnLst/>
            <a:rect l="l" t="t" r="r" b="b"/>
            <a:pathLst>
              <a:path w="8842062" h="4179884">
                <a:moveTo>
                  <a:pt x="0" y="0"/>
                </a:moveTo>
                <a:lnTo>
                  <a:pt x="8842062" y="0"/>
                </a:lnTo>
                <a:lnTo>
                  <a:pt x="8842062" y="4179883"/>
                </a:lnTo>
                <a:lnTo>
                  <a:pt x="0" y="417988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6309934">
            <a:off x="4472616" y="6610800"/>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6"/>
                </a:ext>
              </a:extLst>
            </a:blip>
            <a:stretch>
              <a:fillRect/>
            </a:stretch>
          </a:blipFill>
        </p:spPr>
      </p:sp>
      <p:sp>
        <p:nvSpPr>
          <p:cNvPr id="8" name="Freeform 8"/>
          <p:cNvSpPr/>
          <p:nvPr/>
        </p:nvSpPr>
        <p:spPr>
          <a:xfrm>
            <a:off x="-1591031" y="-1137320"/>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7"/>
            <a:stretch>
              <a:fillRect/>
            </a:stretch>
          </a:blipFill>
        </p:spPr>
      </p:sp>
      <p:sp>
        <p:nvSpPr>
          <p:cNvPr id="9" name="Freeform 9"/>
          <p:cNvSpPr/>
          <p:nvPr/>
        </p:nvSpPr>
        <p:spPr>
          <a:xfrm rot="-2157287">
            <a:off x="15856494" y="-206848"/>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rot="-3055627">
            <a:off x="12099560" y="-984956"/>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3281798" y="2992509"/>
            <a:ext cx="11724404" cy="4301983"/>
            <a:chOff x="0" y="0"/>
            <a:chExt cx="15632538" cy="5735977"/>
          </a:xfrm>
        </p:grpSpPr>
        <p:sp>
          <p:nvSpPr>
            <p:cNvPr id="12" name="TextBox 12"/>
            <p:cNvSpPr txBox="1"/>
            <p:nvPr/>
          </p:nvSpPr>
          <p:spPr>
            <a:xfrm>
              <a:off x="0" y="1898041"/>
              <a:ext cx="15632538" cy="1798318"/>
            </a:xfrm>
            <a:prstGeom prst="rect">
              <a:avLst/>
            </a:prstGeom>
          </p:spPr>
          <p:txBody>
            <a:bodyPr lIns="0" tIns="0" rIns="0" bIns="0" rtlCol="0" anchor="t">
              <a:spAutoFit/>
            </a:bodyPr>
            <a:lstStyle/>
            <a:p>
              <a:pPr algn="ctr">
                <a:lnSpc>
                  <a:spcPts val="11433"/>
                </a:lnSpc>
              </a:pPr>
              <a:r>
                <a:rPr lang="en-US" sz="8167" spc="89">
                  <a:solidFill>
                    <a:srgbClr val="000000"/>
                  </a:solidFill>
                  <a:latin typeface="DM Sans"/>
                  <a:ea typeface="DM Sans"/>
                  <a:cs typeface="DM Sans"/>
                  <a:sym typeface="DM Sans"/>
                </a:rPr>
                <a:t>Alejandro Acevedo</a:t>
              </a:r>
            </a:p>
          </p:txBody>
        </p:sp>
        <p:sp>
          <p:nvSpPr>
            <p:cNvPr id="13" name="TextBox 13"/>
            <p:cNvSpPr txBox="1"/>
            <p:nvPr/>
          </p:nvSpPr>
          <p:spPr>
            <a:xfrm>
              <a:off x="0" y="-152400"/>
              <a:ext cx="15632538" cy="1806209"/>
            </a:xfrm>
            <a:prstGeom prst="rect">
              <a:avLst/>
            </a:prstGeom>
          </p:spPr>
          <p:txBody>
            <a:bodyPr lIns="0" tIns="0" rIns="0" bIns="0" rtlCol="0" anchor="t">
              <a:spAutoFit/>
            </a:bodyPr>
            <a:lstStyle/>
            <a:p>
              <a:pPr algn="ctr">
                <a:lnSpc>
                  <a:spcPts val="11433"/>
                </a:lnSpc>
              </a:pPr>
              <a:r>
                <a:rPr lang="en-US" sz="8167" spc="89">
                  <a:solidFill>
                    <a:srgbClr val="000000"/>
                  </a:solidFill>
                  <a:latin typeface="DM Sans"/>
                  <a:ea typeface="DM Sans"/>
                  <a:cs typeface="DM Sans"/>
                  <a:sym typeface="DM Sans"/>
                </a:rPr>
                <a:t>Vaishnavi Maganti</a:t>
              </a:r>
            </a:p>
          </p:txBody>
        </p:sp>
        <p:sp>
          <p:nvSpPr>
            <p:cNvPr id="14" name="TextBox 14"/>
            <p:cNvSpPr txBox="1"/>
            <p:nvPr/>
          </p:nvSpPr>
          <p:spPr>
            <a:xfrm>
              <a:off x="0" y="3937659"/>
              <a:ext cx="15632538" cy="1798318"/>
            </a:xfrm>
            <a:prstGeom prst="rect">
              <a:avLst/>
            </a:prstGeom>
          </p:spPr>
          <p:txBody>
            <a:bodyPr lIns="0" tIns="0" rIns="0" bIns="0" rtlCol="0" anchor="t">
              <a:spAutoFit/>
            </a:bodyPr>
            <a:lstStyle/>
            <a:p>
              <a:pPr algn="ctr">
                <a:lnSpc>
                  <a:spcPts val="11433"/>
                </a:lnSpc>
              </a:pPr>
              <a:r>
                <a:rPr lang="en-US" sz="8167" spc="89">
                  <a:solidFill>
                    <a:srgbClr val="000000"/>
                  </a:solidFill>
                  <a:latin typeface="DM Sans"/>
                  <a:ea typeface="DM Sans"/>
                  <a:cs typeface="DM Sans"/>
                  <a:sym typeface="DM Sans"/>
                </a:rPr>
                <a:t>Catalina De Amorrortu</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75559"/>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Our Data and Goal </a:t>
            </a:r>
          </a:p>
        </p:txBody>
      </p:sp>
      <p:sp>
        <p:nvSpPr>
          <p:cNvPr id="3" name="Freeform 3"/>
          <p:cNvSpPr/>
          <p:nvPr/>
        </p:nvSpPr>
        <p:spPr>
          <a:xfrm rot="-1850127">
            <a:off x="16079385" y="1551784"/>
            <a:ext cx="4096029" cy="5968712"/>
          </a:xfrm>
          <a:custGeom>
            <a:avLst/>
            <a:gdLst/>
            <a:ahLst/>
            <a:cxnLst/>
            <a:rect l="l" t="t" r="r" b="b"/>
            <a:pathLst>
              <a:path w="4096029" h="5968712">
                <a:moveTo>
                  <a:pt x="0" y="0"/>
                </a:moveTo>
                <a:lnTo>
                  <a:pt x="4096029" y="0"/>
                </a:lnTo>
                <a:lnTo>
                  <a:pt x="4096029" y="5968712"/>
                </a:lnTo>
                <a:lnTo>
                  <a:pt x="0" y="5968712"/>
                </a:lnTo>
                <a:lnTo>
                  <a:pt x="0" y="0"/>
                </a:lnTo>
                <a:close/>
              </a:path>
            </a:pathLst>
          </a:custGeom>
          <a:blipFill>
            <a:blip r:embed="rId2"/>
            <a:stretch>
              <a:fillRect/>
            </a:stretch>
          </a:blipFill>
        </p:spPr>
      </p:sp>
      <p:sp>
        <p:nvSpPr>
          <p:cNvPr id="4" name="Freeform 4"/>
          <p:cNvSpPr/>
          <p:nvPr/>
        </p:nvSpPr>
        <p:spPr>
          <a:xfrm>
            <a:off x="-3147057" y="-920044"/>
            <a:ext cx="8842062" cy="4179884"/>
          </a:xfrm>
          <a:custGeom>
            <a:avLst/>
            <a:gdLst/>
            <a:ahLst/>
            <a:cxnLst/>
            <a:rect l="l" t="t" r="r" b="b"/>
            <a:pathLst>
              <a:path w="8842062" h="4179884">
                <a:moveTo>
                  <a:pt x="0" y="0"/>
                </a:moveTo>
                <a:lnTo>
                  <a:pt x="8842062" y="0"/>
                </a:lnTo>
                <a:lnTo>
                  <a:pt x="8842062" y="4179883"/>
                </a:lnTo>
                <a:lnTo>
                  <a:pt x="0" y="41798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6309934">
            <a:off x="6872212" y="7234794"/>
            <a:ext cx="2444779" cy="4309706"/>
          </a:xfrm>
          <a:custGeom>
            <a:avLst/>
            <a:gdLst/>
            <a:ahLst/>
            <a:cxnLst/>
            <a:rect l="l" t="t" r="r" b="b"/>
            <a:pathLst>
              <a:path w="2444779" h="4309706">
                <a:moveTo>
                  <a:pt x="0" y="0"/>
                </a:moveTo>
                <a:lnTo>
                  <a:pt x="2444779" y="0"/>
                </a:lnTo>
                <a:lnTo>
                  <a:pt x="2444779" y="4309706"/>
                </a:lnTo>
                <a:lnTo>
                  <a:pt x="0" y="4309706"/>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4069971" y="7646099"/>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5"/>
            <a:stretch>
              <a:fillRect/>
            </a:stretch>
          </a:blipFill>
        </p:spPr>
      </p:sp>
      <p:sp>
        <p:nvSpPr>
          <p:cNvPr id="7" name="Freeform 7"/>
          <p:cNvSpPr/>
          <p:nvPr/>
        </p:nvSpPr>
        <p:spPr>
          <a:xfrm rot="701334">
            <a:off x="-2704693" y="6087041"/>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055627">
            <a:off x="12099560" y="-984956"/>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3604383" y="2070883"/>
            <a:ext cx="11079234" cy="5945858"/>
          </a:xfrm>
          <a:prstGeom prst="rect">
            <a:avLst/>
          </a:prstGeom>
        </p:spPr>
        <p:txBody>
          <a:bodyPr lIns="0" tIns="0" rIns="0" bIns="0" rtlCol="0" anchor="t">
            <a:spAutoFit/>
          </a:bodyPr>
          <a:lstStyle/>
          <a:p>
            <a:pPr algn="l">
              <a:lnSpc>
                <a:spcPts val="3137"/>
              </a:lnSpc>
            </a:pPr>
            <a:r>
              <a:rPr lang="en-US" sz="2241" i="1" spc="24" dirty="0">
                <a:solidFill>
                  <a:srgbClr val="000000"/>
                </a:solidFill>
                <a:latin typeface="DM Sans Italics"/>
                <a:ea typeface="DM Sans Italics"/>
                <a:cs typeface="DM Sans Italics"/>
                <a:sym typeface="DM Sans Italics"/>
              </a:rPr>
              <a:t>Meta-analysis of yield response of foliar fungicide-treated hybrid corn in the United States and Ontario, Canada </a:t>
            </a:r>
            <a:r>
              <a:rPr lang="en-US" sz="2241" spc="24" dirty="0">
                <a:solidFill>
                  <a:srgbClr val="000000"/>
                </a:solidFill>
                <a:latin typeface="DM Sans"/>
                <a:ea typeface="DM Sans"/>
                <a:cs typeface="DM Sans"/>
                <a:sym typeface="DM Sans"/>
              </a:rPr>
              <a:t>- Research conducted by Kiersten A. Wise et al. This research explores the effectiveness of different brands and application methods of fungicides on corn crops across the south midwestern U.S. and Ontario, Canada. </a:t>
            </a:r>
          </a:p>
          <a:p>
            <a:pPr algn="l">
              <a:lnSpc>
                <a:spcPts val="3137"/>
              </a:lnSpc>
            </a:pPr>
            <a:endParaRPr lang="en-US" sz="2241" spc="24" dirty="0">
              <a:solidFill>
                <a:srgbClr val="000000"/>
              </a:solidFill>
              <a:latin typeface="DM Sans"/>
              <a:ea typeface="DM Sans"/>
              <a:cs typeface="DM Sans"/>
              <a:sym typeface="DM Sans"/>
            </a:endParaRPr>
          </a:p>
          <a:p>
            <a:pPr algn="l">
              <a:lnSpc>
                <a:spcPts val="3137"/>
              </a:lnSpc>
            </a:pPr>
            <a:r>
              <a:rPr lang="en-US" sz="2241" spc="24" dirty="0">
                <a:solidFill>
                  <a:srgbClr val="000000"/>
                </a:solidFill>
                <a:latin typeface="DM Sans"/>
                <a:ea typeface="DM Sans"/>
                <a:cs typeface="DM Sans"/>
                <a:sym typeface="DM Sans"/>
              </a:rPr>
              <a:t>Our goal is to create a shiny app that will allow the user to input a state, and see what fungicide provided the highest yield, therefore determining the most effective fungicide for their use.</a:t>
            </a:r>
          </a:p>
          <a:p>
            <a:pPr algn="l">
              <a:lnSpc>
                <a:spcPts val="3137"/>
              </a:lnSpc>
            </a:pPr>
            <a:endParaRPr lang="en-US" sz="2241" spc="24" dirty="0">
              <a:solidFill>
                <a:srgbClr val="000000"/>
              </a:solidFill>
              <a:latin typeface="DM Sans"/>
              <a:ea typeface="DM Sans"/>
              <a:cs typeface="DM Sans"/>
              <a:sym typeface="DM Sans"/>
            </a:endParaRPr>
          </a:p>
          <a:p>
            <a:pPr algn="l">
              <a:lnSpc>
                <a:spcPts val="3137"/>
              </a:lnSpc>
            </a:pPr>
            <a:r>
              <a:rPr lang="en-US" sz="2241" spc="24" dirty="0">
                <a:solidFill>
                  <a:srgbClr val="000000"/>
                </a:solidFill>
                <a:latin typeface="DM Sans"/>
                <a:ea typeface="DM Sans"/>
                <a:cs typeface="DM Sans"/>
                <a:sym typeface="DM Sans"/>
              </a:rPr>
              <a:t>Limitations of this study and our exploration include the locations, as only 13 US states and one Canadian province are tested. The data is also limited to only two years, so there is a chance for new, more effective fungicides to have come to the market, and also for fungicide-resistant strains of fungi to have risen and continue to affect crops despite fungicide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85241" y="1175559"/>
            <a:ext cx="10517519"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Data</a:t>
            </a:r>
          </a:p>
        </p:txBody>
      </p:sp>
      <p:sp>
        <p:nvSpPr>
          <p:cNvPr id="3" name="Freeform 3"/>
          <p:cNvSpPr/>
          <p:nvPr/>
        </p:nvSpPr>
        <p:spPr>
          <a:xfrm>
            <a:off x="7600880" y="7022105"/>
            <a:ext cx="6085715" cy="5198895"/>
          </a:xfrm>
          <a:custGeom>
            <a:avLst/>
            <a:gdLst/>
            <a:ahLst/>
            <a:cxnLst/>
            <a:rect l="l" t="t" r="r" b="b"/>
            <a:pathLst>
              <a:path w="6085715" h="5198895">
                <a:moveTo>
                  <a:pt x="0" y="0"/>
                </a:moveTo>
                <a:lnTo>
                  <a:pt x="6085715" y="0"/>
                </a:lnTo>
                <a:lnTo>
                  <a:pt x="6085715" y="5198895"/>
                </a:lnTo>
                <a:lnTo>
                  <a:pt x="0" y="519889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949981" y="-1057258"/>
            <a:ext cx="8842062" cy="4179884"/>
          </a:xfrm>
          <a:custGeom>
            <a:avLst/>
            <a:gdLst/>
            <a:ahLst/>
            <a:cxnLst/>
            <a:rect l="l" t="t" r="r" b="b"/>
            <a:pathLst>
              <a:path w="8842062" h="4179884">
                <a:moveTo>
                  <a:pt x="0" y="0"/>
                </a:moveTo>
                <a:lnTo>
                  <a:pt x="8842061" y="0"/>
                </a:lnTo>
                <a:lnTo>
                  <a:pt x="8842061" y="4179884"/>
                </a:lnTo>
                <a:lnTo>
                  <a:pt x="0" y="41798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6309934">
            <a:off x="-482499" y="2571256"/>
            <a:ext cx="2444779" cy="4309706"/>
          </a:xfrm>
          <a:custGeom>
            <a:avLst/>
            <a:gdLst/>
            <a:ahLst/>
            <a:cxnLst/>
            <a:rect l="l" t="t" r="r" b="b"/>
            <a:pathLst>
              <a:path w="2444779" h="4309706">
                <a:moveTo>
                  <a:pt x="0" y="0"/>
                </a:moveTo>
                <a:lnTo>
                  <a:pt x="2444778" y="0"/>
                </a:lnTo>
                <a:lnTo>
                  <a:pt x="2444778"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2647527" y="6861291"/>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5"/>
            <a:stretch>
              <a:fillRect/>
            </a:stretch>
          </a:blipFill>
        </p:spPr>
      </p:sp>
      <p:sp>
        <p:nvSpPr>
          <p:cNvPr id="7" name="Freeform 7"/>
          <p:cNvSpPr/>
          <p:nvPr/>
        </p:nvSpPr>
        <p:spPr>
          <a:xfrm rot="-2157287">
            <a:off x="15442182" y="5706453"/>
            <a:ext cx="6584800" cy="7103695"/>
          </a:xfrm>
          <a:custGeom>
            <a:avLst/>
            <a:gdLst/>
            <a:ahLst/>
            <a:cxnLst/>
            <a:rect l="l" t="t" r="r" b="b"/>
            <a:pathLst>
              <a:path w="6584800" h="7103695">
                <a:moveTo>
                  <a:pt x="0" y="0"/>
                </a:moveTo>
                <a:lnTo>
                  <a:pt x="6584800" y="0"/>
                </a:lnTo>
                <a:lnTo>
                  <a:pt x="6584800" y="7103694"/>
                </a:lnTo>
                <a:lnTo>
                  <a:pt x="0" y="710369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055627">
            <a:off x="15623761" y="-603070"/>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9" name="Freeform 9"/>
          <p:cNvSpPr/>
          <p:nvPr/>
        </p:nvSpPr>
        <p:spPr>
          <a:xfrm>
            <a:off x="8131247" y="2417651"/>
            <a:ext cx="9128053" cy="5762083"/>
          </a:xfrm>
          <a:custGeom>
            <a:avLst/>
            <a:gdLst/>
            <a:ahLst/>
            <a:cxnLst/>
            <a:rect l="l" t="t" r="r" b="b"/>
            <a:pathLst>
              <a:path w="9128053" h="5762083">
                <a:moveTo>
                  <a:pt x="0" y="0"/>
                </a:moveTo>
                <a:lnTo>
                  <a:pt x="9128053" y="0"/>
                </a:lnTo>
                <a:lnTo>
                  <a:pt x="9128053" y="5762084"/>
                </a:lnTo>
                <a:lnTo>
                  <a:pt x="0" y="5762084"/>
                </a:lnTo>
                <a:lnTo>
                  <a:pt x="0" y="0"/>
                </a:lnTo>
                <a:close/>
              </a:path>
            </a:pathLst>
          </a:custGeom>
          <a:blipFill>
            <a:blip r:embed="rId7"/>
            <a:stretch>
              <a:fillRect/>
            </a:stretch>
          </a:blipFill>
        </p:spPr>
      </p:sp>
      <p:sp>
        <p:nvSpPr>
          <p:cNvPr id="10" name="TextBox 10"/>
          <p:cNvSpPr txBox="1"/>
          <p:nvPr/>
        </p:nvSpPr>
        <p:spPr>
          <a:xfrm>
            <a:off x="1968525" y="2889764"/>
            <a:ext cx="5632355" cy="4459848"/>
          </a:xfrm>
          <a:prstGeom prst="rect">
            <a:avLst/>
          </a:prstGeom>
        </p:spPr>
        <p:txBody>
          <a:bodyPr lIns="0" tIns="0" rIns="0" bIns="0" rtlCol="0" anchor="t">
            <a:spAutoFit/>
          </a:bodyPr>
          <a:lstStyle/>
          <a:p>
            <a:pPr marL="548480" lvl="1" indent="-274240" algn="l">
              <a:lnSpc>
                <a:spcPts val="3556"/>
              </a:lnSpc>
              <a:buFont typeface="Arial"/>
              <a:buChar char="•"/>
            </a:pPr>
            <a:r>
              <a:rPr lang="en-US" sz="2540" spc="27">
                <a:solidFill>
                  <a:srgbClr val="000000"/>
                </a:solidFill>
                <a:latin typeface="DM Sans"/>
                <a:ea typeface="DM Sans"/>
                <a:cs typeface="DM Sans"/>
                <a:sym typeface="DM Sans"/>
              </a:rPr>
              <a:t>Fungicide effectiveness by state.</a:t>
            </a:r>
          </a:p>
          <a:p>
            <a:pPr marL="1096961" lvl="2" indent="-365654" algn="l">
              <a:lnSpc>
                <a:spcPts val="3556"/>
              </a:lnSpc>
              <a:buFont typeface="Arial"/>
              <a:buChar char="⚬"/>
            </a:pPr>
            <a:r>
              <a:rPr lang="en-US" sz="2540" spc="27">
                <a:solidFill>
                  <a:srgbClr val="000000"/>
                </a:solidFill>
                <a:latin typeface="DM Sans"/>
                <a:ea typeface="DM Sans"/>
                <a:cs typeface="DM Sans"/>
                <a:sym typeface="DM Sans"/>
              </a:rPr>
              <a:t>Comparing the change in treated and untreated yields by fungicide per state.</a:t>
            </a:r>
          </a:p>
          <a:p>
            <a:pPr marL="1096961" lvl="2" indent="-365654" algn="l">
              <a:lnSpc>
                <a:spcPts val="3556"/>
              </a:lnSpc>
              <a:buFont typeface="Arial"/>
              <a:buChar char="⚬"/>
            </a:pPr>
            <a:r>
              <a:rPr lang="en-US" sz="2540" spc="27">
                <a:solidFill>
                  <a:srgbClr val="000000"/>
                </a:solidFill>
                <a:latin typeface="DM Sans"/>
                <a:ea typeface="DM Sans"/>
                <a:cs typeface="DM Sans"/>
                <a:sym typeface="DM Sans"/>
              </a:rPr>
              <a:t>We see that MD, SD, and ND have almost no effective treatments, and all states except AR, GA, and LA have at least one fungicide that does not work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75559"/>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Data</a:t>
            </a:r>
          </a:p>
        </p:txBody>
      </p:sp>
      <p:sp>
        <p:nvSpPr>
          <p:cNvPr id="3" name="Freeform 3"/>
          <p:cNvSpPr/>
          <p:nvPr/>
        </p:nvSpPr>
        <p:spPr>
          <a:xfrm rot="2245136">
            <a:off x="-1744725" y="-335865"/>
            <a:ext cx="4096029" cy="5968712"/>
          </a:xfrm>
          <a:custGeom>
            <a:avLst/>
            <a:gdLst/>
            <a:ahLst/>
            <a:cxnLst/>
            <a:rect l="l" t="t" r="r" b="b"/>
            <a:pathLst>
              <a:path w="4096029" h="5968712">
                <a:moveTo>
                  <a:pt x="0" y="0"/>
                </a:moveTo>
                <a:lnTo>
                  <a:pt x="4096029" y="0"/>
                </a:lnTo>
                <a:lnTo>
                  <a:pt x="4096029" y="5968712"/>
                </a:lnTo>
                <a:lnTo>
                  <a:pt x="0" y="5968712"/>
                </a:lnTo>
                <a:lnTo>
                  <a:pt x="0" y="0"/>
                </a:lnTo>
                <a:close/>
              </a:path>
            </a:pathLst>
          </a:custGeom>
          <a:blipFill>
            <a:blip r:embed="rId2"/>
            <a:stretch>
              <a:fillRect/>
            </a:stretch>
          </a:blipFill>
        </p:spPr>
      </p:sp>
      <p:sp>
        <p:nvSpPr>
          <p:cNvPr id="4" name="Freeform 4"/>
          <p:cNvSpPr/>
          <p:nvPr/>
        </p:nvSpPr>
        <p:spPr>
          <a:xfrm>
            <a:off x="14691439" y="-441006"/>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3"/>
            <a:stretch>
              <a:fillRect/>
            </a:stretch>
          </a:blipFill>
        </p:spPr>
      </p:sp>
      <p:sp>
        <p:nvSpPr>
          <p:cNvPr id="5" name="Freeform 5"/>
          <p:cNvSpPr/>
          <p:nvPr/>
        </p:nvSpPr>
        <p:spPr>
          <a:xfrm rot="-3055627">
            <a:off x="12099560" y="-984956"/>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893619" y="2438965"/>
            <a:ext cx="14500762" cy="1207378"/>
          </a:xfrm>
          <a:prstGeom prst="rect">
            <a:avLst/>
          </a:prstGeom>
        </p:spPr>
        <p:txBody>
          <a:bodyPr lIns="0" tIns="0" rIns="0" bIns="0" rtlCol="0" anchor="t">
            <a:spAutoFit/>
          </a:bodyPr>
          <a:lstStyle/>
          <a:p>
            <a:pPr marL="505302" lvl="1" indent="-252651" algn="l">
              <a:lnSpc>
                <a:spcPts val="3276"/>
              </a:lnSpc>
              <a:buFont typeface="Arial"/>
              <a:buChar char="•"/>
            </a:pPr>
            <a:r>
              <a:rPr lang="en-US" sz="2340" spc="25">
                <a:solidFill>
                  <a:srgbClr val="000000"/>
                </a:solidFill>
                <a:latin typeface="DM Sans"/>
                <a:ea typeface="DM Sans"/>
                <a:cs typeface="DM Sans"/>
                <a:sym typeface="DM Sans"/>
              </a:rPr>
              <a:t>Fungicide resistance</a:t>
            </a:r>
          </a:p>
          <a:p>
            <a:pPr marL="1010603" lvl="2" indent="-336868" algn="l">
              <a:lnSpc>
                <a:spcPts val="3276"/>
              </a:lnSpc>
              <a:buFont typeface="Arial"/>
              <a:buChar char="⚬"/>
            </a:pPr>
            <a:r>
              <a:rPr lang="en-US" sz="2340" spc="25">
                <a:solidFill>
                  <a:srgbClr val="000000"/>
                </a:solidFill>
                <a:latin typeface="DM Sans"/>
                <a:ea typeface="DM Sans"/>
                <a:cs typeface="DM Sans"/>
                <a:sym typeface="DM Sans"/>
              </a:rPr>
              <a:t>Comparing the change in the total disease by fungicide and state in 2014 and 2015, we can determine if any fungicide-resistant strains appeared</a:t>
            </a:r>
          </a:p>
        </p:txBody>
      </p:sp>
      <p:sp>
        <p:nvSpPr>
          <p:cNvPr id="7" name="TextBox 7"/>
          <p:cNvSpPr txBox="1"/>
          <p:nvPr/>
        </p:nvSpPr>
        <p:spPr>
          <a:xfrm>
            <a:off x="1893619" y="9678175"/>
            <a:ext cx="14500762" cy="348223"/>
          </a:xfrm>
          <a:prstGeom prst="rect">
            <a:avLst/>
          </a:prstGeom>
        </p:spPr>
        <p:txBody>
          <a:bodyPr lIns="0" tIns="0" rIns="0" bIns="0" rtlCol="0" anchor="t">
            <a:spAutoFit/>
          </a:bodyPr>
          <a:lstStyle/>
          <a:p>
            <a:pPr algn="ctr">
              <a:lnSpc>
                <a:spcPts val="2856"/>
              </a:lnSpc>
            </a:pPr>
            <a:r>
              <a:rPr lang="en-US" sz="2040" spc="22">
                <a:solidFill>
                  <a:srgbClr val="000000"/>
                </a:solidFill>
                <a:latin typeface="DM Sans"/>
                <a:ea typeface="DM Sans"/>
                <a:cs typeface="DM Sans"/>
                <a:sym typeface="DM Sans"/>
              </a:rPr>
              <a:t>*IL was not tested in 2015, so it has been removed from the 2015 graphs.* </a:t>
            </a:r>
          </a:p>
        </p:txBody>
      </p:sp>
      <p:grpSp>
        <p:nvGrpSpPr>
          <p:cNvPr id="8" name="Group 8"/>
          <p:cNvGrpSpPr/>
          <p:nvPr/>
        </p:nvGrpSpPr>
        <p:grpSpPr>
          <a:xfrm>
            <a:off x="596264" y="3912743"/>
            <a:ext cx="17095472" cy="5066208"/>
            <a:chOff x="0" y="0"/>
            <a:chExt cx="22793962" cy="6754944"/>
          </a:xfrm>
        </p:grpSpPr>
        <p:sp>
          <p:nvSpPr>
            <p:cNvPr id="9" name="Freeform 9"/>
            <p:cNvSpPr/>
            <p:nvPr/>
          </p:nvSpPr>
          <p:spPr>
            <a:xfrm>
              <a:off x="12453003" y="0"/>
              <a:ext cx="10340959" cy="6744235"/>
            </a:xfrm>
            <a:custGeom>
              <a:avLst/>
              <a:gdLst/>
              <a:ahLst/>
              <a:cxnLst/>
              <a:rect l="l" t="t" r="r" b="b"/>
              <a:pathLst>
                <a:path w="10340959" h="6744235">
                  <a:moveTo>
                    <a:pt x="0" y="0"/>
                  </a:moveTo>
                  <a:lnTo>
                    <a:pt x="10340959" y="0"/>
                  </a:lnTo>
                  <a:lnTo>
                    <a:pt x="10340959" y="6744235"/>
                  </a:lnTo>
                  <a:lnTo>
                    <a:pt x="0" y="6744235"/>
                  </a:lnTo>
                  <a:lnTo>
                    <a:pt x="0" y="0"/>
                  </a:lnTo>
                  <a:close/>
                </a:path>
              </a:pathLst>
            </a:custGeom>
            <a:blipFill>
              <a:blip r:embed="rId5"/>
              <a:stretch>
                <a:fillRect r="-8697"/>
              </a:stretch>
            </a:blipFill>
          </p:spPr>
        </p:sp>
        <p:sp>
          <p:nvSpPr>
            <p:cNvPr id="10" name="Freeform 10"/>
            <p:cNvSpPr/>
            <p:nvPr/>
          </p:nvSpPr>
          <p:spPr>
            <a:xfrm>
              <a:off x="0" y="0"/>
              <a:ext cx="10508658" cy="6754944"/>
            </a:xfrm>
            <a:custGeom>
              <a:avLst/>
              <a:gdLst/>
              <a:ahLst/>
              <a:cxnLst/>
              <a:rect l="l" t="t" r="r" b="b"/>
              <a:pathLst>
                <a:path w="10508658" h="6754944">
                  <a:moveTo>
                    <a:pt x="0" y="0"/>
                  </a:moveTo>
                  <a:lnTo>
                    <a:pt x="10508658" y="0"/>
                  </a:lnTo>
                  <a:lnTo>
                    <a:pt x="10508658" y="6754944"/>
                  </a:lnTo>
                  <a:lnTo>
                    <a:pt x="0" y="6754944"/>
                  </a:lnTo>
                  <a:lnTo>
                    <a:pt x="0" y="0"/>
                  </a:lnTo>
                  <a:close/>
                </a:path>
              </a:pathLst>
            </a:custGeom>
            <a:blipFill>
              <a:blip r:embed="rId6"/>
              <a:stretch>
                <a:fillRect r="-3468"/>
              </a:stretch>
            </a:blipFill>
          </p:spPr>
        </p:sp>
      </p:grpSp>
      <p:grpSp>
        <p:nvGrpSpPr>
          <p:cNvPr id="11" name="Group 11"/>
          <p:cNvGrpSpPr/>
          <p:nvPr/>
        </p:nvGrpSpPr>
        <p:grpSpPr>
          <a:xfrm>
            <a:off x="3324993" y="9281552"/>
            <a:ext cx="11638015" cy="434723"/>
            <a:chOff x="0" y="0"/>
            <a:chExt cx="15517353" cy="579631"/>
          </a:xfrm>
        </p:grpSpPr>
        <p:sp>
          <p:nvSpPr>
            <p:cNvPr id="12" name="TextBox 12"/>
            <p:cNvSpPr txBox="1"/>
            <p:nvPr/>
          </p:nvSpPr>
          <p:spPr>
            <a:xfrm>
              <a:off x="0" y="-57150"/>
              <a:ext cx="1345441" cy="636781"/>
            </a:xfrm>
            <a:prstGeom prst="rect">
              <a:avLst/>
            </a:prstGeom>
          </p:spPr>
          <p:txBody>
            <a:bodyPr lIns="0" tIns="0" rIns="0" bIns="0" rtlCol="0" anchor="t">
              <a:spAutoFit/>
            </a:bodyPr>
            <a:lstStyle/>
            <a:p>
              <a:pPr algn="ctr">
                <a:lnSpc>
                  <a:spcPts val="4035"/>
                </a:lnSpc>
              </a:pPr>
              <a:r>
                <a:rPr lang="en-US" sz="2882" spc="31">
                  <a:solidFill>
                    <a:srgbClr val="000000"/>
                  </a:solidFill>
                  <a:latin typeface="DM Sans"/>
                  <a:ea typeface="DM Sans"/>
                  <a:cs typeface="DM Sans"/>
                  <a:sym typeface="DM Sans"/>
                </a:rPr>
                <a:t>2014</a:t>
              </a:r>
            </a:p>
          </p:txBody>
        </p:sp>
        <p:sp>
          <p:nvSpPr>
            <p:cNvPr id="13" name="TextBox 13"/>
            <p:cNvSpPr txBox="1"/>
            <p:nvPr/>
          </p:nvSpPr>
          <p:spPr>
            <a:xfrm>
              <a:off x="14171912" y="-57150"/>
              <a:ext cx="1345441" cy="636781"/>
            </a:xfrm>
            <a:prstGeom prst="rect">
              <a:avLst/>
            </a:prstGeom>
          </p:spPr>
          <p:txBody>
            <a:bodyPr lIns="0" tIns="0" rIns="0" bIns="0" rtlCol="0" anchor="t">
              <a:spAutoFit/>
            </a:bodyPr>
            <a:lstStyle/>
            <a:p>
              <a:pPr algn="ctr">
                <a:lnSpc>
                  <a:spcPts val="4035"/>
                </a:lnSpc>
              </a:pPr>
              <a:r>
                <a:rPr lang="en-US" sz="2882" spc="31">
                  <a:solidFill>
                    <a:srgbClr val="000000"/>
                  </a:solidFill>
                  <a:latin typeface="DM Sans"/>
                  <a:ea typeface="DM Sans"/>
                  <a:cs typeface="DM Sans"/>
                  <a:sym typeface="DM Sans"/>
                </a:rPr>
                <a:t>2015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75559"/>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Data</a:t>
            </a:r>
          </a:p>
        </p:txBody>
      </p:sp>
      <p:sp>
        <p:nvSpPr>
          <p:cNvPr id="3" name="Freeform 3"/>
          <p:cNvSpPr/>
          <p:nvPr/>
        </p:nvSpPr>
        <p:spPr>
          <a:xfrm>
            <a:off x="15437201" y="5168917"/>
            <a:ext cx="4096029" cy="5968712"/>
          </a:xfrm>
          <a:custGeom>
            <a:avLst/>
            <a:gdLst/>
            <a:ahLst/>
            <a:cxnLst/>
            <a:rect l="l" t="t" r="r" b="b"/>
            <a:pathLst>
              <a:path w="4096029" h="5968712">
                <a:moveTo>
                  <a:pt x="0" y="0"/>
                </a:moveTo>
                <a:lnTo>
                  <a:pt x="4096029" y="0"/>
                </a:lnTo>
                <a:lnTo>
                  <a:pt x="4096029" y="5968712"/>
                </a:lnTo>
                <a:lnTo>
                  <a:pt x="0" y="5968712"/>
                </a:lnTo>
                <a:lnTo>
                  <a:pt x="0" y="0"/>
                </a:lnTo>
                <a:close/>
              </a:path>
            </a:pathLst>
          </a:custGeom>
          <a:blipFill>
            <a:blip r:embed="rId2"/>
            <a:stretch>
              <a:fillRect/>
            </a:stretch>
          </a:blipFill>
        </p:spPr>
      </p:sp>
      <p:sp>
        <p:nvSpPr>
          <p:cNvPr id="4" name="Freeform 4"/>
          <p:cNvSpPr/>
          <p:nvPr/>
        </p:nvSpPr>
        <p:spPr>
          <a:xfrm>
            <a:off x="15192561" y="7993454"/>
            <a:ext cx="3095439" cy="2515748"/>
          </a:xfrm>
          <a:custGeom>
            <a:avLst/>
            <a:gdLst/>
            <a:ahLst/>
            <a:cxnLst/>
            <a:rect l="l" t="t" r="r" b="b"/>
            <a:pathLst>
              <a:path w="3095439" h="2515748">
                <a:moveTo>
                  <a:pt x="0" y="0"/>
                </a:moveTo>
                <a:lnTo>
                  <a:pt x="3095439" y="0"/>
                </a:lnTo>
                <a:lnTo>
                  <a:pt x="3095439" y="2515748"/>
                </a:lnTo>
                <a:lnTo>
                  <a:pt x="0" y="251574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6309934">
            <a:off x="-706287" y="2736981"/>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591031" y="-1137320"/>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5"/>
            <a:stretch>
              <a:fillRect/>
            </a:stretch>
          </a:blipFill>
        </p:spPr>
      </p:sp>
      <p:sp>
        <p:nvSpPr>
          <p:cNvPr id="7" name="Freeform 7"/>
          <p:cNvSpPr/>
          <p:nvPr/>
        </p:nvSpPr>
        <p:spPr>
          <a:xfrm rot="943891">
            <a:off x="-2171960" y="6735153"/>
            <a:ext cx="6584800" cy="7103695"/>
          </a:xfrm>
          <a:custGeom>
            <a:avLst/>
            <a:gdLst/>
            <a:ahLst/>
            <a:cxnLst/>
            <a:rect l="l" t="t" r="r" b="b"/>
            <a:pathLst>
              <a:path w="6584800" h="7103695">
                <a:moveTo>
                  <a:pt x="0" y="0"/>
                </a:moveTo>
                <a:lnTo>
                  <a:pt x="6584800" y="0"/>
                </a:lnTo>
                <a:lnTo>
                  <a:pt x="6584800" y="7103694"/>
                </a:lnTo>
                <a:lnTo>
                  <a:pt x="0" y="710369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3055627">
            <a:off x="12099560" y="-984956"/>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9" name="Freeform 9"/>
          <p:cNvSpPr/>
          <p:nvPr/>
        </p:nvSpPr>
        <p:spPr>
          <a:xfrm rot="6309934">
            <a:off x="9122475" y="8132147"/>
            <a:ext cx="2444779" cy="4309706"/>
          </a:xfrm>
          <a:custGeom>
            <a:avLst/>
            <a:gdLst/>
            <a:ahLst/>
            <a:cxnLst/>
            <a:rect l="l" t="t" r="r" b="b"/>
            <a:pathLst>
              <a:path w="2444779" h="4309706">
                <a:moveTo>
                  <a:pt x="0" y="0"/>
                </a:moveTo>
                <a:lnTo>
                  <a:pt x="2444779" y="0"/>
                </a:lnTo>
                <a:lnTo>
                  <a:pt x="2444779" y="4309706"/>
                </a:lnTo>
                <a:lnTo>
                  <a:pt x="0" y="4309706"/>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sp>
      <p:sp>
        <p:nvSpPr>
          <p:cNvPr id="10" name="Freeform 10"/>
          <p:cNvSpPr/>
          <p:nvPr/>
        </p:nvSpPr>
        <p:spPr>
          <a:xfrm>
            <a:off x="4414226" y="2848259"/>
            <a:ext cx="9459549" cy="5711202"/>
          </a:xfrm>
          <a:custGeom>
            <a:avLst/>
            <a:gdLst/>
            <a:ahLst/>
            <a:cxnLst/>
            <a:rect l="l" t="t" r="r" b="b"/>
            <a:pathLst>
              <a:path w="9459549" h="5711202">
                <a:moveTo>
                  <a:pt x="0" y="0"/>
                </a:moveTo>
                <a:lnTo>
                  <a:pt x="9459548" y="0"/>
                </a:lnTo>
                <a:lnTo>
                  <a:pt x="9459548" y="5711202"/>
                </a:lnTo>
                <a:lnTo>
                  <a:pt x="0" y="5711202"/>
                </a:lnTo>
                <a:lnTo>
                  <a:pt x="0" y="0"/>
                </a:lnTo>
                <a:close/>
              </a:path>
            </a:pathLst>
          </a:custGeom>
          <a:blipFill>
            <a:blip r:embed="rId7"/>
            <a:stretch>
              <a:fillRect/>
            </a:stretch>
          </a:blipFill>
        </p:spPr>
      </p:sp>
      <p:sp>
        <p:nvSpPr>
          <p:cNvPr id="11" name="TextBox 11"/>
          <p:cNvSpPr txBox="1"/>
          <p:nvPr/>
        </p:nvSpPr>
        <p:spPr>
          <a:xfrm>
            <a:off x="2815287" y="2201975"/>
            <a:ext cx="12657426" cy="446807"/>
          </a:xfrm>
          <a:prstGeom prst="rect">
            <a:avLst/>
          </a:prstGeom>
        </p:spPr>
        <p:txBody>
          <a:bodyPr lIns="0" tIns="0" rIns="0" bIns="0" rtlCol="0" anchor="t">
            <a:spAutoFit/>
          </a:bodyPr>
          <a:lstStyle/>
          <a:p>
            <a:pPr marL="574115" lvl="1" indent="-287057" algn="ctr">
              <a:lnSpc>
                <a:spcPts val="3722"/>
              </a:lnSpc>
              <a:buFont typeface="Arial"/>
              <a:buChar char="•"/>
            </a:pPr>
            <a:r>
              <a:rPr lang="en-US" sz="2659" spc="29">
                <a:solidFill>
                  <a:srgbClr val="000000"/>
                </a:solidFill>
                <a:latin typeface="DM Sans"/>
                <a:ea typeface="DM Sans"/>
                <a:cs typeface="DM Sans"/>
                <a:sym typeface="DM Sans"/>
              </a:rPr>
              <a:t>Overall, which fungicide treats the highest amount of diseases/fungi?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75559"/>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Data</a:t>
            </a:r>
          </a:p>
        </p:txBody>
      </p:sp>
      <p:sp>
        <p:nvSpPr>
          <p:cNvPr id="3" name="Freeform 3"/>
          <p:cNvSpPr/>
          <p:nvPr/>
        </p:nvSpPr>
        <p:spPr>
          <a:xfrm rot="1128197">
            <a:off x="-3432716" y="3242221"/>
            <a:ext cx="5568916" cy="8114996"/>
          </a:xfrm>
          <a:custGeom>
            <a:avLst/>
            <a:gdLst/>
            <a:ahLst/>
            <a:cxnLst/>
            <a:rect l="l" t="t" r="r" b="b"/>
            <a:pathLst>
              <a:path w="5568916" h="8114996">
                <a:moveTo>
                  <a:pt x="0" y="0"/>
                </a:moveTo>
                <a:lnTo>
                  <a:pt x="5568916" y="0"/>
                </a:lnTo>
                <a:lnTo>
                  <a:pt x="5568916" y="8114997"/>
                </a:lnTo>
                <a:lnTo>
                  <a:pt x="0" y="8114997"/>
                </a:lnTo>
                <a:lnTo>
                  <a:pt x="0" y="0"/>
                </a:lnTo>
                <a:close/>
              </a:path>
            </a:pathLst>
          </a:custGeom>
          <a:blipFill>
            <a:blip r:embed="rId2"/>
            <a:stretch>
              <a:fillRect/>
            </a:stretch>
          </a:blipFill>
        </p:spPr>
      </p:sp>
      <p:sp>
        <p:nvSpPr>
          <p:cNvPr id="4" name="Freeform 4"/>
          <p:cNvSpPr/>
          <p:nvPr/>
        </p:nvSpPr>
        <p:spPr>
          <a:xfrm flipH="1">
            <a:off x="13815563" y="5647976"/>
            <a:ext cx="6085715" cy="5198895"/>
          </a:xfrm>
          <a:custGeom>
            <a:avLst/>
            <a:gdLst/>
            <a:ahLst/>
            <a:cxnLst/>
            <a:rect l="l" t="t" r="r" b="b"/>
            <a:pathLst>
              <a:path w="6085715" h="5198895">
                <a:moveTo>
                  <a:pt x="6085715" y="0"/>
                </a:moveTo>
                <a:lnTo>
                  <a:pt x="0" y="0"/>
                </a:lnTo>
                <a:lnTo>
                  <a:pt x="0" y="5198894"/>
                </a:lnTo>
                <a:lnTo>
                  <a:pt x="6085715" y="5198894"/>
                </a:lnTo>
                <a:lnTo>
                  <a:pt x="6085715"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192561" y="8153273"/>
            <a:ext cx="3095439" cy="2515748"/>
          </a:xfrm>
          <a:custGeom>
            <a:avLst/>
            <a:gdLst/>
            <a:ahLst/>
            <a:cxnLst/>
            <a:rect l="l" t="t" r="r" b="b"/>
            <a:pathLst>
              <a:path w="3095439" h="2515748">
                <a:moveTo>
                  <a:pt x="0" y="0"/>
                </a:moveTo>
                <a:lnTo>
                  <a:pt x="3095439" y="0"/>
                </a:lnTo>
                <a:lnTo>
                  <a:pt x="3095439" y="2515747"/>
                </a:lnTo>
                <a:lnTo>
                  <a:pt x="0" y="251574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6309934">
            <a:off x="-413824" y="-1482130"/>
            <a:ext cx="2444779" cy="4309706"/>
          </a:xfrm>
          <a:custGeom>
            <a:avLst/>
            <a:gdLst/>
            <a:ahLst/>
            <a:cxnLst/>
            <a:rect l="l" t="t" r="r" b="b"/>
            <a:pathLst>
              <a:path w="2444779" h="4309706">
                <a:moveTo>
                  <a:pt x="0" y="0"/>
                </a:moveTo>
                <a:lnTo>
                  <a:pt x="2444779" y="0"/>
                </a:lnTo>
                <a:lnTo>
                  <a:pt x="2444779" y="4309706"/>
                </a:lnTo>
                <a:lnTo>
                  <a:pt x="0" y="4309706"/>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a:off x="14900583" y="2070883"/>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6"/>
            <a:stretch>
              <a:fillRect/>
            </a:stretch>
          </a:blipFill>
        </p:spPr>
      </p:sp>
      <p:sp>
        <p:nvSpPr>
          <p:cNvPr id="8" name="Freeform 8"/>
          <p:cNvSpPr/>
          <p:nvPr/>
        </p:nvSpPr>
        <p:spPr>
          <a:xfrm rot="-366772">
            <a:off x="609721" y="7872240"/>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rot="-3055627">
            <a:off x="13192640" y="-1482130"/>
            <a:ext cx="2444779" cy="4309706"/>
          </a:xfrm>
          <a:custGeom>
            <a:avLst/>
            <a:gdLst/>
            <a:ahLst/>
            <a:cxnLst/>
            <a:rect l="l" t="t" r="r" b="b"/>
            <a:pathLst>
              <a:path w="2444779" h="4309706">
                <a:moveTo>
                  <a:pt x="0" y="0"/>
                </a:moveTo>
                <a:lnTo>
                  <a:pt x="2444778" y="0"/>
                </a:lnTo>
                <a:lnTo>
                  <a:pt x="2444778" y="4309706"/>
                </a:lnTo>
                <a:lnTo>
                  <a:pt x="0" y="4309706"/>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4251698" y="2364636"/>
            <a:ext cx="9692596" cy="355189"/>
          </a:xfrm>
          <a:prstGeom prst="rect">
            <a:avLst/>
          </a:prstGeom>
        </p:spPr>
        <p:txBody>
          <a:bodyPr lIns="0" tIns="0" rIns="0" bIns="0" rtlCol="0" anchor="t">
            <a:spAutoFit/>
          </a:bodyPr>
          <a:lstStyle/>
          <a:p>
            <a:pPr marL="462283" lvl="1" indent="-231141" algn="l">
              <a:lnSpc>
                <a:spcPts val="2997"/>
              </a:lnSpc>
              <a:buFont typeface="Arial"/>
              <a:buChar char="•"/>
            </a:pPr>
            <a:r>
              <a:rPr lang="en-US" sz="2141" spc="23">
                <a:solidFill>
                  <a:srgbClr val="000000"/>
                </a:solidFill>
                <a:latin typeface="DM Sans"/>
                <a:ea typeface="DM Sans"/>
                <a:cs typeface="DM Sans"/>
                <a:sym typeface="DM Sans"/>
              </a:rPr>
              <a:t>Overall, which fungicide provides us with the highest yield of corn?</a:t>
            </a:r>
          </a:p>
        </p:txBody>
      </p:sp>
      <p:sp>
        <p:nvSpPr>
          <p:cNvPr id="11" name="Freeform 11"/>
          <p:cNvSpPr/>
          <p:nvPr/>
        </p:nvSpPr>
        <p:spPr>
          <a:xfrm>
            <a:off x="3969139" y="2929633"/>
            <a:ext cx="10349722" cy="6481514"/>
          </a:xfrm>
          <a:custGeom>
            <a:avLst/>
            <a:gdLst/>
            <a:ahLst/>
            <a:cxnLst/>
            <a:rect l="l" t="t" r="r" b="b"/>
            <a:pathLst>
              <a:path w="10349722" h="6481514">
                <a:moveTo>
                  <a:pt x="0" y="0"/>
                </a:moveTo>
                <a:lnTo>
                  <a:pt x="10349722" y="0"/>
                </a:lnTo>
                <a:lnTo>
                  <a:pt x="10349722" y="6481513"/>
                </a:lnTo>
                <a:lnTo>
                  <a:pt x="0" y="6481513"/>
                </a:lnTo>
                <a:lnTo>
                  <a:pt x="0" y="0"/>
                </a:lnTo>
                <a:close/>
              </a:path>
            </a:pathLst>
          </a:custGeom>
          <a:blipFill>
            <a:blip r:embed="rId8"/>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4767275"/>
            <a:ext cx="6545941" cy="895324"/>
          </a:xfrm>
          <a:prstGeom prst="rect">
            <a:avLst/>
          </a:prstGeom>
        </p:spPr>
        <p:txBody>
          <a:bodyPr lIns="0" tIns="0" rIns="0" bIns="0" rtlCol="0" anchor="t">
            <a:spAutoFit/>
          </a:bodyPr>
          <a:lstStyle/>
          <a:p>
            <a:pPr algn="ctr">
              <a:lnSpc>
                <a:spcPts val="6641"/>
              </a:lnSpc>
            </a:pPr>
            <a:r>
              <a:rPr lang="en-US" sz="6846">
                <a:solidFill>
                  <a:srgbClr val="3F771E"/>
                </a:solidFill>
                <a:latin typeface="Chau Philomene"/>
                <a:ea typeface="Chau Philomene"/>
                <a:cs typeface="Chau Philomene"/>
                <a:sym typeface="Chau Philomene"/>
              </a:rPr>
              <a:t>Shiny App</a:t>
            </a:r>
          </a:p>
        </p:txBody>
      </p:sp>
      <p:sp>
        <p:nvSpPr>
          <p:cNvPr id="3" name="Freeform 3"/>
          <p:cNvSpPr/>
          <p:nvPr/>
        </p:nvSpPr>
        <p:spPr>
          <a:xfrm>
            <a:off x="-122667" y="8153273"/>
            <a:ext cx="3095439" cy="2515748"/>
          </a:xfrm>
          <a:custGeom>
            <a:avLst/>
            <a:gdLst/>
            <a:ahLst/>
            <a:cxnLst/>
            <a:rect l="l" t="t" r="r" b="b"/>
            <a:pathLst>
              <a:path w="3095439" h="2515748">
                <a:moveTo>
                  <a:pt x="0" y="0"/>
                </a:moveTo>
                <a:lnTo>
                  <a:pt x="3095439" y="0"/>
                </a:lnTo>
                <a:lnTo>
                  <a:pt x="3095439" y="2515747"/>
                </a:lnTo>
                <a:lnTo>
                  <a:pt x="0" y="251574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5602321" y="5553825"/>
            <a:ext cx="6085715" cy="5198895"/>
          </a:xfrm>
          <a:custGeom>
            <a:avLst/>
            <a:gdLst/>
            <a:ahLst/>
            <a:cxnLst/>
            <a:rect l="l" t="t" r="r" b="b"/>
            <a:pathLst>
              <a:path w="6085715" h="5198895">
                <a:moveTo>
                  <a:pt x="0" y="0"/>
                </a:moveTo>
                <a:lnTo>
                  <a:pt x="6085715" y="0"/>
                </a:lnTo>
                <a:lnTo>
                  <a:pt x="6085715" y="5198895"/>
                </a:lnTo>
                <a:lnTo>
                  <a:pt x="0" y="519889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451132" y="-1965167"/>
            <a:ext cx="8842062" cy="4179884"/>
          </a:xfrm>
          <a:custGeom>
            <a:avLst/>
            <a:gdLst/>
            <a:ahLst/>
            <a:cxnLst/>
            <a:rect l="l" t="t" r="r" b="b"/>
            <a:pathLst>
              <a:path w="8842062" h="4179884">
                <a:moveTo>
                  <a:pt x="0" y="0"/>
                </a:moveTo>
                <a:lnTo>
                  <a:pt x="8842061" y="0"/>
                </a:lnTo>
                <a:lnTo>
                  <a:pt x="8842061" y="4179883"/>
                </a:lnTo>
                <a:lnTo>
                  <a:pt x="0" y="417988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6309934">
            <a:off x="4327607" y="7256293"/>
            <a:ext cx="2444779" cy="4309706"/>
          </a:xfrm>
          <a:custGeom>
            <a:avLst/>
            <a:gdLst/>
            <a:ahLst/>
            <a:cxnLst/>
            <a:rect l="l" t="t" r="r" b="b"/>
            <a:pathLst>
              <a:path w="2444779" h="4309706">
                <a:moveTo>
                  <a:pt x="0" y="0"/>
                </a:moveTo>
                <a:lnTo>
                  <a:pt x="2444778" y="0"/>
                </a:lnTo>
                <a:lnTo>
                  <a:pt x="2444778" y="4309707"/>
                </a:lnTo>
                <a:lnTo>
                  <a:pt x="0" y="4309707"/>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7" name="Freeform 7"/>
          <p:cNvSpPr/>
          <p:nvPr/>
        </p:nvSpPr>
        <p:spPr>
          <a:xfrm>
            <a:off x="-3387417" y="3875858"/>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6"/>
            <a:stretch>
              <a:fillRect/>
            </a:stretch>
          </a:blipFill>
        </p:spPr>
      </p:sp>
      <p:sp>
        <p:nvSpPr>
          <p:cNvPr id="8" name="Freeform 8"/>
          <p:cNvSpPr/>
          <p:nvPr/>
        </p:nvSpPr>
        <p:spPr>
          <a:xfrm rot="-2157287">
            <a:off x="11099364" y="7934387"/>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rot="-3055627">
            <a:off x="12099560" y="-984956"/>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
        <p:nvSpPr>
          <p:cNvPr id="10" name="Freeform 10"/>
          <p:cNvSpPr/>
          <p:nvPr/>
        </p:nvSpPr>
        <p:spPr>
          <a:xfrm rot="-3055627">
            <a:off x="-693009" y="-1412593"/>
            <a:ext cx="2444779" cy="4309706"/>
          </a:xfrm>
          <a:custGeom>
            <a:avLst/>
            <a:gdLst/>
            <a:ahLst/>
            <a:cxnLst/>
            <a:rect l="l" t="t" r="r" b="b"/>
            <a:pathLst>
              <a:path w="2444779" h="4309706">
                <a:moveTo>
                  <a:pt x="0" y="0"/>
                </a:moveTo>
                <a:lnTo>
                  <a:pt x="2444779" y="0"/>
                </a:lnTo>
                <a:lnTo>
                  <a:pt x="2444779" y="4309707"/>
                </a:lnTo>
                <a:lnTo>
                  <a:pt x="0" y="4309707"/>
                </a:lnTo>
                <a:lnTo>
                  <a:pt x="0" y="0"/>
                </a:lnTo>
                <a:close/>
              </a:path>
            </a:pathLst>
          </a:custGeom>
          <a:blipFill>
            <a:blip>
              <a:alphaModFix amt="38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1591031" y="3162706"/>
            <a:ext cx="5647563" cy="8229600"/>
          </a:xfrm>
          <a:custGeom>
            <a:avLst/>
            <a:gdLst/>
            <a:ahLst/>
            <a:cxnLst/>
            <a:rect l="l" t="t" r="r" b="b"/>
            <a:pathLst>
              <a:path w="5647563" h="8229600">
                <a:moveTo>
                  <a:pt x="0" y="0"/>
                </a:moveTo>
                <a:lnTo>
                  <a:pt x="5647563" y="0"/>
                </a:lnTo>
                <a:lnTo>
                  <a:pt x="5647563" y="8229600"/>
                </a:lnTo>
                <a:lnTo>
                  <a:pt x="0" y="8229600"/>
                </a:lnTo>
                <a:lnTo>
                  <a:pt x="0" y="0"/>
                </a:lnTo>
                <a:close/>
              </a:path>
            </a:pathLst>
          </a:custGeom>
          <a:blipFill>
            <a:blip r:embed="rId2"/>
            <a:stretch>
              <a:fillRect/>
            </a:stretch>
          </a:blipFill>
        </p:spPr>
      </p:sp>
      <p:sp>
        <p:nvSpPr>
          <p:cNvPr id="3" name="TextBox 3"/>
          <p:cNvSpPr txBox="1"/>
          <p:nvPr/>
        </p:nvSpPr>
        <p:spPr>
          <a:xfrm>
            <a:off x="3346374" y="4086119"/>
            <a:ext cx="11595253" cy="2344052"/>
          </a:xfrm>
          <a:prstGeom prst="rect">
            <a:avLst/>
          </a:prstGeom>
        </p:spPr>
        <p:txBody>
          <a:bodyPr lIns="0" tIns="0" rIns="0" bIns="0" rtlCol="0" anchor="t">
            <a:spAutoFit/>
          </a:bodyPr>
          <a:lstStyle/>
          <a:p>
            <a:pPr algn="ctr">
              <a:lnSpc>
                <a:spcPts val="17426"/>
              </a:lnSpc>
            </a:pPr>
            <a:r>
              <a:rPr lang="en-US" sz="17965">
                <a:solidFill>
                  <a:srgbClr val="3F771E"/>
                </a:solidFill>
                <a:latin typeface="Chau Philomene"/>
                <a:ea typeface="Chau Philomene"/>
                <a:cs typeface="Chau Philomene"/>
                <a:sym typeface="Chau Philomene"/>
              </a:rPr>
              <a:t>Thank You</a:t>
            </a:r>
          </a:p>
        </p:txBody>
      </p:sp>
      <p:sp>
        <p:nvSpPr>
          <p:cNvPr id="4" name="Freeform 4"/>
          <p:cNvSpPr/>
          <p:nvPr/>
        </p:nvSpPr>
        <p:spPr>
          <a:xfrm>
            <a:off x="7570193" y="8939973"/>
            <a:ext cx="7315200" cy="3458095"/>
          </a:xfrm>
          <a:custGeom>
            <a:avLst/>
            <a:gdLst/>
            <a:ahLst/>
            <a:cxnLst/>
            <a:rect l="l" t="t" r="r" b="b"/>
            <a:pathLst>
              <a:path w="7315200" h="3458095">
                <a:moveTo>
                  <a:pt x="0" y="0"/>
                </a:moveTo>
                <a:lnTo>
                  <a:pt x="7315200" y="0"/>
                </a:lnTo>
                <a:lnTo>
                  <a:pt x="7315200" y="3458095"/>
                </a:lnTo>
                <a:lnTo>
                  <a:pt x="0" y="3458095"/>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
        <p:nvSpPr>
          <p:cNvPr id="5" name="Freeform 5"/>
          <p:cNvSpPr/>
          <p:nvPr/>
        </p:nvSpPr>
        <p:spPr>
          <a:xfrm>
            <a:off x="13966900" y="5423594"/>
            <a:ext cx="6584800" cy="7103695"/>
          </a:xfrm>
          <a:custGeom>
            <a:avLst/>
            <a:gdLst/>
            <a:ahLst/>
            <a:cxnLst/>
            <a:rect l="l" t="t" r="r" b="b"/>
            <a:pathLst>
              <a:path w="6584800" h="7103695">
                <a:moveTo>
                  <a:pt x="0" y="0"/>
                </a:moveTo>
                <a:lnTo>
                  <a:pt x="6584800" y="0"/>
                </a:lnTo>
                <a:lnTo>
                  <a:pt x="6584800" y="7103695"/>
                </a:lnTo>
                <a:lnTo>
                  <a:pt x="0" y="710369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22667" y="6554220"/>
            <a:ext cx="5062953" cy="4114800"/>
          </a:xfrm>
          <a:custGeom>
            <a:avLst/>
            <a:gdLst/>
            <a:ahLst/>
            <a:cxnLst/>
            <a:rect l="l" t="t" r="r" b="b"/>
            <a:pathLst>
              <a:path w="5062953" h="4114800">
                <a:moveTo>
                  <a:pt x="0" y="0"/>
                </a:moveTo>
                <a:lnTo>
                  <a:pt x="5062953" y="0"/>
                </a:lnTo>
                <a:lnTo>
                  <a:pt x="50629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rot="-3516996">
            <a:off x="14320434" y="-2372404"/>
            <a:ext cx="6669405" cy="8229600"/>
          </a:xfrm>
          <a:custGeom>
            <a:avLst/>
            <a:gdLst/>
            <a:ahLst/>
            <a:cxnLst/>
            <a:rect l="l" t="t" r="r" b="b"/>
            <a:pathLst>
              <a:path w="6669405" h="8229600">
                <a:moveTo>
                  <a:pt x="0" y="0"/>
                </a:moveTo>
                <a:lnTo>
                  <a:pt x="6669405" y="0"/>
                </a:lnTo>
                <a:lnTo>
                  <a:pt x="6669405" y="8229600"/>
                </a:lnTo>
                <a:lnTo>
                  <a:pt x="0" y="8229600"/>
                </a:lnTo>
                <a:lnTo>
                  <a:pt x="0" y="0"/>
                </a:lnTo>
                <a:close/>
              </a:path>
            </a:pathLst>
          </a:custGeom>
          <a:blipFill>
            <a:blip r:embed="rId6"/>
            <a:stretch>
              <a:fillRect/>
            </a:stretch>
          </a:blipFill>
        </p:spPr>
      </p:sp>
      <p:sp>
        <p:nvSpPr>
          <p:cNvPr id="8" name="Freeform 8"/>
          <p:cNvSpPr/>
          <p:nvPr/>
        </p:nvSpPr>
        <p:spPr>
          <a:xfrm>
            <a:off x="3234023" y="7277506"/>
            <a:ext cx="4816697" cy="4114800"/>
          </a:xfrm>
          <a:custGeom>
            <a:avLst/>
            <a:gdLst/>
            <a:ahLst/>
            <a:cxnLst/>
            <a:rect l="l" t="t" r="r" b="b"/>
            <a:pathLst>
              <a:path w="4816697" h="4114800">
                <a:moveTo>
                  <a:pt x="0" y="0"/>
                </a:moveTo>
                <a:lnTo>
                  <a:pt x="4816697" y="0"/>
                </a:lnTo>
                <a:lnTo>
                  <a:pt x="4816697"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rot="6309934">
            <a:off x="7417961" y="-2077549"/>
            <a:ext cx="2687667" cy="4737875"/>
          </a:xfrm>
          <a:custGeom>
            <a:avLst/>
            <a:gdLst/>
            <a:ahLst/>
            <a:cxnLst/>
            <a:rect l="l" t="t" r="r" b="b"/>
            <a:pathLst>
              <a:path w="2687667" h="4737875">
                <a:moveTo>
                  <a:pt x="0" y="0"/>
                </a:moveTo>
                <a:lnTo>
                  <a:pt x="2687667" y="0"/>
                </a:lnTo>
                <a:lnTo>
                  <a:pt x="2687667" y="4737875"/>
                </a:lnTo>
                <a:lnTo>
                  <a:pt x="0" y="4737875"/>
                </a:lnTo>
                <a:lnTo>
                  <a:pt x="0" y="0"/>
                </a:lnTo>
                <a:close/>
              </a:path>
            </a:pathLst>
          </a:custGeom>
          <a:blipFill>
            <a:blip>
              <a:alphaModFix amt="38000"/>
              <a:extLst>
                <a:ext uri="{96DAC541-7B7A-43D3-8B79-37D633B846F1}">
                  <asvg:svgBlip xmlns:asvg="http://schemas.microsoft.com/office/drawing/2016/SVG/main" r:embed="rId8"/>
                </a:ext>
              </a:extLst>
            </a:blip>
            <a:stretch>
              <a:fillRect/>
            </a:stretch>
          </a:blipFill>
        </p:spPr>
      </p:sp>
      <p:sp>
        <p:nvSpPr>
          <p:cNvPr id="10" name="Freeform 10"/>
          <p:cNvSpPr/>
          <p:nvPr/>
        </p:nvSpPr>
        <p:spPr>
          <a:xfrm>
            <a:off x="-1591031" y="-1137320"/>
            <a:ext cx="6774834" cy="3985579"/>
          </a:xfrm>
          <a:custGeom>
            <a:avLst/>
            <a:gdLst/>
            <a:ahLst/>
            <a:cxnLst/>
            <a:rect l="l" t="t" r="r" b="b"/>
            <a:pathLst>
              <a:path w="6774834" h="3985579">
                <a:moveTo>
                  <a:pt x="0" y="0"/>
                </a:moveTo>
                <a:lnTo>
                  <a:pt x="6774834" y="0"/>
                </a:lnTo>
                <a:lnTo>
                  <a:pt x="6774834" y="3985579"/>
                </a:lnTo>
                <a:lnTo>
                  <a:pt x="0" y="3985579"/>
                </a:lnTo>
                <a:lnTo>
                  <a:pt x="0" y="0"/>
                </a:lnTo>
                <a:close/>
              </a:path>
            </a:pathLst>
          </a:custGeom>
          <a:blipFill>
            <a:blip r:embed="rId9"/>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326</Words>
  <Application>Microsoft Macintosh PowerPoint</Application>
  <PresentationFormat>Custom</PresentationFormat>
  <Paragraphs>29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DM Sans</vt:lpstr>
      <vt:lpstr>Chau Philomene</vt:lpstr>
      <vt:lpstr>Calibri</vt:lpstr>
      <vt:lpstr>Arial</vt:lpstr>
      <vt:lpstr>DM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FUNGICIDE EXPLORATION</dc:title>
  <cp:lastModifiedBy>Microsoft Office User</cp:lastModifiedBy>
  <cp:revision>2</cp:revision>
  <dcterms:created xsi:type="dcterms:W3CDTF">2006-08-16T00:00:00Z</dcterms:created>
  <dcterms:modified xsi:type="dcterms:W3CDTF">2026-03-12T19:27:03Z</dcterms:modified>
  <dc:identifier>DAHDk4frQ-E</dc:identifier>
</cp:coreProperties>
</file>