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Chau Philomene" charset="1" panose="02000806040000020003"/>
      <p:regular r:id="rId15"/>
    </p:embeddedFont>
    <p:embeddedFont>
      <p:font typeface="DM Sans" charset="1" panose="00000000000000000000"/>
      <p:regular r:id="rId16"/>
    </p:embeddedFont>
    <p:embeddedFont>
      <p:font typeface="DM Sans Italics" charset="1" panose="0000000000000000000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svg" Type="http://schemas.openxmlformats.org/officeDocument/2006/relationships/image"/><Relationship Id="rId11" Target="../media/image13.png" Type="http://schemas.openxmlformats.org/officeDocument/2006/relationships/image"/><Relationship Id="rId12" Target="../media/image4.png" Type="http://schemas.openxmlformats.org/officeDocument/2006/relationships/image"/><Relationship Id="rId13" Target="../media/image5.svg" Type="http://schemas.openxmlformats.org/officeDocument/2006/relationships/image"/><Relationship Id="rId2" Target="../media/image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9.png" Type="http://schemas.openxmlformats.org/officeDocument/2006/relationships/image"/><Relationship Id="rId6" Target="../media/image10.svg" Type="http://schemas.openxmlformats.org/officeDocument/2006/relationships/image"/><Relationship Id="rId7" Target="../media/image2.png" Type="http://schemas.openxmlformats.org/officeDocument/2006/relationships/image"/><Relationship Id="rId8" Target="../media/image3.svg" Type="http://schemas.openxmlformats.org/officeDocument/2006/relationships/image"/><Relationship Id="rId9" Target="../media/image1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11.png" Type="http://schemas.openxmlformats.org/officeDocument/2006/relationships/image"/><Relationship Id="rId6" Target="../media/image12.svg" Type="http://schemas.openxmlformats.org/officeDocument/2006/relationships/image"/><Relationship Id="rId7" Target="../media/image13.png" Type="http://schemas.openxmlformats.org/officeDocument/2006/relationships/image"/><Relationship Id="rId8" Target="../media/image4.png" Type="http://schemas.openxmlformats.org/officeDocument/2006/relationships/image"/><Relationship Id="rId9" Target="../media/image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svg" Type="http://schemas.openxmlformats.org/officeDocument/2006/relationships/image"/><Relationship Id="rId11" Target="../media/image14.png" Type="http://schemas.openxmlformats.org/officeDocument/2006/relationships/image"/><Relationship Id="rId2" Target="../media/image9.png" Type="http://schemas.openxmlformats.org/officeDocument/2006/relationships/image"/><Relationship Id="rId3" Target="../media/image10.sv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11.png" Type="http://schemas.openxmlformats.org/officeDocument/2006/relationships/image"/><Relationship Id="rId7" Target="../media/image12.svg" Type="http://schemas.openxmlformats.org/officeDocument/2006/relationships/image"/><Relationship Id="rId8" Target="../media/image13.png" Type="http://schemas.openxmlformats.org/officeDocument/2006/relationships/image"/><Relationship Id="rId9" Target="../media/image4.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3.png" Type="http://schemas.openxmlformats.org/officeDocument/2006/relationships/image"/><Relationship Id="rId4" Target="../media/image11.png" Type="http://schemas.openxmlformats.org/officeDocument/2006/relationships/image"/><Relationship Id="rId5" Target="../media/image12.svg" Type="http://schemas.openxmlformats.org/officeDocument/2006/relationships/image"/><Relationship Id="rId6" Target="../media/image15.png" Type="http://schemas.openxmlformats.org/officeDocument/2006/relationships/image"/><Relationship Id="rId7" Target="../media/image1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png" Type="http://schemas.openxmlformats.org/officeDocument/2006/relationships/image"/><Relationship Id="rId11" Target="../media/image5.svg" Type="http://schemas.openxmlformats.org/officeDocument/2006/relationships/image"/><Relationship Id="rId12" Target="../media/image17.png" Type="http://schemas.openxmlformats.org/officeDocument/2006/relationships/image"/><Relationship Id="rId2" Target="../media/image1.png" Type="http://schemas.openxmlformats.org/officeDocument/2006/relationships/image"/><Relationship Id="rId3" Target="../media/image9.png" Type="http://schemas.openxmlformats.org/officeDocument/2006/relationships/image"/><Relationship Id="rId4" Target="../media/image10.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 Id="rId7" Target="../media/image11.png" Type="http://schemas.openxmlformats.org/officeDocument/2006/relationships/image"/><Relationship Id="rId8" Target="../media/image12.svg" Type="http://schemas.openxmlformats.org/officeDocument/2006/relationships/image"/><Relationship Id="rId9" Target="../media/image1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2" Target="../media/image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11.png" Type="http://schemas.openxmlformats.org/officeDocument/2006/relationships/image"/><Relationship Id="rId6" Target="../media/image12.svg" Type="http://schemas.openxmlformats.org/officeDocument/2006/relationships/image"/><Relationship Id="rId7" Target="../media/image13.png" Type="http://schemas.openxmlformats.org/officeDocument/2006/relationships/image"/><Relationship Id="rId8" Target="../media/image4.png" Type="http://schemas.openxmlformats.org/officeDocument/2006/relationships/image"/><Relationship Id="rId9" Target="../media/image5.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png" Type="http://schemas.openxmlformats.org/officeDocument/2006/relationships/image"/><Relationship Id="rId11" Target="../media/image4.png" Type="http://schemas.openxmlformats.org/officeDocument/2006/relationships/image"/><Relationship Id="rId12" Target="../media/image5.svg" Type="http://schemas.openxmlformats.org/officeDocument/2006/relationships/image"/><Relationship Id="rId2" Target="../media/image6.png" Type="http://schemas.openxmlformats.org/officeDocument/2006/relationships/image"/><Relationship Id="rId3" Target="../media/image7.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 Id="rId8" Target="../media/image11.png" Type="http://schemas.openxmlformats.org/officeDocument/2006/relationships/image"/><Relationship Id="rId9" Target="../media/image12.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media/image8.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Freeform 2" id="2"/>
          <p:cNvSpPr/>
          <p:nvPr/>
        </p:nvSpPr>
        <p:spPr>
          <a:xfrm flipH="false" flipV="false" rot="0">
            <a:off x="-1591031" y="3162706"/>
            <a:ext cx="5647563" cy="8229600"/>
          </a:xfrm>
          <a:custGeom>
            <a:avLst/>
            <a:gdLst/>
            <a:ahLst/>
            <a:cxnLst/>
            <a:rect r="r" b="b" t="t" l="l"/>
            <a:pathLst>
              <a:path h="8229600" w="5647563">
                <a:moveTo>
                  <a:pt x="0" y="0"/>
                </a:moveTo>
                <a:lnTo>
                  <a:pt x="5647563" y="0"/>
                </a:lnTo>
                <a:lnTo>
                  <a:pt x="5647563" y="8229600"/>
                </a:lnTo>
                <a:lnTo>
                  <a:pt x="0" y="8229600"/>
                </a:lnTo>
                <a:lnTo>
                  <a:pt x="0" y="0"/>
                </a:lnTo>
                <a:close/>
              </a:path>
            </a:pathLst>
          </a:custGeom>
          <a:blipFill>
            <a:blip r:embed="rId2"/>
            <a:stretch>
              <a:fillRect l="0" t="0" r="0" b="0"/>
            </a:stretch>
          </a:blipFill>
        </p:spPr>
      </p:sp>
      <p:sp>
        <p:nvSpPr>
          <p:cNvPr name="TextBox 3" id="3"/>
          <p:cNvSpPr txBox="true"/>
          <p:nvPr/>
        </p:nvSpPr>
        <p:spPr>
          <a:xfrm rot="0">
            <a:off x="3402607" y="3100252"/>
            <a:ext cx="11482787" cy="3940840"/>
          </a:xfrm>
          <a:prstGeom prst="rect">
            <a:avLst/>
          </a:prstGeom>
        </p:spPr>
        <p:txBody>
          <a:bodyPr anchor="t" rtlCol="false" tIns="0" lIns="0" bIns="0" rIns="0">
            <a:spAutoFit/>
          </a:bodyPr>
          <a:lstStyle/>
          <a:p>
            <a:pPr algn="ctr">
              <a:lnSpc>
                <a:spcPts val="15099"/>
              </a:lnSpc>
            </a:pPr>
            <a:r>
              <a:rPr lang="en-US" sz="15566">
                <a:solidFill>
                  <a:srgbClr val="3F771E"/>
                </a:solidFill>
                <a:latin typeface="Chau Philomene"/>
                <a:ea typeface="Chau Philomene"/>
                <a:cs typeface="Chau Philomene"/>
                <a:sym typeface="Chau Philomene"/>
              </a:rPr>
              <a:t>FUNGICIDE EXPLORATION</a:t>
            </a:r>
          </a:p>
        </p:txBody>
      </p:sp>
      <p:sp>
        <p:nvSpPr>
          <p:cNvPr name="Freeform 4" id="4"/>
          <p:cNvSpPr/>
          <p:nvPr/>
        </p:nvSpPr>
        <p:spPr>
          <a:xfrm flipH="false" flipV="false" rot="0">
            <a:off x="7570193" y="8939973"/>
            <a:ext cx="7315200" cy="3458095"/>
          </a:xfrm>
          <a:custGeom>
            <a:avLst/>
            <a:gdLst/>
            <a:ahLst/>
            <a:cxnLst/>
            <a:rect r="r" b="b" t="t" l="l"/>
            <a:pathLst>
              <a:path h="3458095" w="7315200">
                <a:moveTo>
                  <a:pt x="0" y="0"/>
                </a:moveTo>
                <a:lnTo>
                  <a:pt x="7315200" y="0"/>
                </a:lnTo>
                <a:lnTo>
                  <a:pt x="7315200" y="3458095"/>
                </a:lnTo>
                <a:lnTo>
                  <a:pt x="0" y="3458095"/>
                </a:lnTo>
                <a:lnTo>
                  <a:pt x="0" y="0"/>
                </a:lnTo>
                <a:close/>
              </a:path>
            </a:pathLst>
          </a:custGeom>
          <a:blipFill>
            <a:blip r:embed="rId3">
              <a:alphaModFix amt="37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3966900" y="5423594"/>
            <a:ext cx="6584800" cy="7103695"/>
          </a:xfrm>
          <a:custGeom>
            <a:avLst/>
            <a:gdLst/>
            <a:ahLst/>
            <a:cxnLst/>
            <a:rect r="r" b="b" t="t" l="l"/>
            <a:pathLst>
              <a:path h="7103695" w="6584800">
                <a:moveTo>
                  <a:pt x="0" y="0"/>
                </a:moveTo>
                <a:lnTo>
                  <a:pt x="6584800" y="0"/>
                </a:lnTo>
                <a:lnTo>
                  <a:pt x="6584800" y="7103695"/>
                </a:lnTo>
                <a:lnTo>
                  <a:pt x="0" y="71036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22667" y="6554220"/>
            <a:ext cx="5062953" cy="4114800"/>
          </a:xfrm>
          <a:custGeom>
            <a:avLst/>
            <a:gdLst/>
            <a:ahLst/>
            <a:cxnLst/>
            <a:rect r="r" b="b" t="t" l="l"/>
            <a:pathLst>
              <a:path h="4114800" w="5062953">
                <a:moveTo>
                  <a:pt x="0" y="0"/>
                </a:moveTo>
                <a:lnTo>
                  <a:pt x="5062953" y="0"/>
                </a:lnTo>
                <a:lnTo>
                  <a:pt x="5062953" y="4114800"/>
                </a:lnTo>
                <a:lnTo>
                  <a:pt x="0" y="41148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3516996">
            <a:off x="14320434" y="-2372404"/>
            <a:ext cx="6669405" cy="8229600"/>
          </a:xfrm>
          <a:custGeom>
            <a:avLst/>
            <a:gdLst/>
            <a:ahLst/>
            <a:cxnLst/>
            <a:rect r="r" b="b" t="t" l="l"/>
            <a:pathLst>
              <a:path h="8229600" w="6669405">
                <a:moveTo>
                  <a:pt x="0" y="0"/>
                </a:moveTo>
                <a:lnTo>
                  <a:pt x="6669405" y="0"/>
                </a:lnTo>
                <a:lnTo>
                  <a:pt x="6669405" y="8229600"/>
                </a:lnTo>
                <a:lnTo>
                  <a:pt x="0" y="8229600"/>
                </a:lnTo>
                <a:lnTo>
                  <a:pt x="0" y="0"/>
                </a:lnTo>
                <a:close/>
              </a:path>
            </a:pathLst>
          </a:custGeom>
          <a:blipFill>
            <a:blip r:embed="rId9"/>
            <a:stretch>
              <a:fillRect l="0" t="0" r="0" b="0"/>
            </a:stretch>
          </a:blipFill>
        </p:spPr>
      </p:sp>
      <p:sp>
        <p:nvSpPr>
          <p:cNvPr name="Freeform 8" id="8"/>
          <p:cNvSpPr/>
          <p:nvPr/>
        </p:nvSpPr>
        <p:spPr>
          <a:xfrm flipH="false" flipV="false" rot="0">
            <a:off x="3234023" y="7277506"/>
            <a:ext cx="4816697" cy="4114800"/>
          </a:xfrm>
          <a:custGeom>
            <a:avLst/>
            <a:gdLst/>
            <a:ahLst/>
            <a:cxnLst/>
            <a:rect r="r" b="b" t="t" l="l"/>
            <a:pathLst>
              <a:path h="4114800" w="4816697">
                <a:moveTo>
                  <a:pt x="0" y="0"/>
                </a:moveTo>
                <a:lnTo>
                  <a:pt x="4816697" y="0"/>
                </a:lnTo>
                <a:lnTo>
                  <a:pt x="4816697"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9" id="9"/>
          <p:cNvSpPr/>
          <p:nvPr/>
        </p:nvSpPr>
        <p:spPr>
          <a:xfrm flipH="false" flipV="false" rot="6309934">
            <a:off x="7417961" y="-2077549"/>
            <a:ext cx="2687667" cy="4737875"/>
          </a:xfrm>
          <a:custGeom>
            <a:avLst/>
            <a:gdLst/>
            <a:ahLst/>
            <a:cxnLst/>
            <a:rect r="r" b="b" t="t" l="l"/>
            <a:pathLst>
              <a:path h="4737875" w="2687667">
                <a:moveTo>
                  <a:pt x="0" y="0"/>
                </a:moveTo>
                <a:lnTo>
                  <a:pt x="2687667" y="0"/>
                </a:lnTo>
                <a:lnTo>
                  <a:pt x="2687667" y="4737875"/>
                </a:lnTo>
                <a:lnTo>
                  <a:pt x="0" y="4737875"/>
                </a:lnTo>
                <a:lnTo>
                  <a:pt x="0" y="0"/>
                </a:lnTo>
                <a:close/>
              </a:path>
            </a:pathLst>
          </a:custGeom>
          <a:blipFill>
            <a:blip r:embed="rId12">
              <a:alphaModFix amt="38000"/>
              <a:extLst>
                <a:ext uri="{96DAC541-7B7A-43D3-8B79-37D633B846F1}">
                  <asvg:svgBlip xmlns:asvg="http://schemas.microsoft.com/office/drawing/2016/SVG/main" r:embed="rId13"/>
                </a:ext>
              </a:extLst>
            </a:blip>
            <a:stretch>
              <a:fillRect l="0" t="0" r="0" b="0"/>
            </a:stretch>
          </a:blipFill>
        </p:spPr>
      </p:sp>
      <p:sp>
        <p:nvSpPr>
          <p:cNvPr name="Freeform 10" id="10"/>
          <p:cNvSpPr/>
          <p:nvPr/>
        </p:nvSpPr>
        <p:spPr>
          <a:xfrm flipH="false" flipV="false" rot="0">
            <a:off x="-1591031" y="-1137320"/>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14"/>
            <a:stretch>
              <a:fillRect l="0" t="0" r="0" b="0"/>
            </a:stretch>
          </a:blipFill>
        </p:spPr>
      </p:sp>
      <p:sp>
        <p:nvSpPr>
          <p:cNvPr name="TextBox 11" id="11"/>
          <p:cNvSpPr txBox="true"/>
          <p:nvPr/>
        </p:nvSpPr>
        <p:spPr>
          <a:xfrm rot="0">
            <a:off x="4729301" y="6791855"/>
            <a:ext cx="8829398" cy="1380477"/>
          </a:xfrm>
          <a:prstGeom prst="rect">
            <a:avLst/>
          </a:prstGeom>
        </p:spPr>
        <p:txBody>
          <a:bodyPr anchor="t" rtlCol="false" tIns="0" lIns="0" bIns="0" rIns="0">
            <a:spAutoFit/>
          </a:bodyPr>
          <a:lstStyle/>
          <a:p>
            <a:pPr algn="ctr">
              <a:lnSpc>
                <a:spcPts val="3710"/>
              </a:lnSpc>
            </a:pPr>
            <a:r>
              <a:rPr lang="en-US" sz="2650" spc="29">
                <a:solidFill>
                  <a:srgbClr val="000000"/>
                </a:solidFill>
                <a:latin typeface="DM Sans"/>
                <a:ea typeface="DM Sans"/>
                <a:cs typeface="DM Sans"/>
                <a:sym typeface="DM Sans"/>
              </a:rPr>
              <a:t>The Effects of Different Fungicides on the Yields of Corn Crops</a:t>
            </a:r>
          </a:p>
          <a:p>
            <a:pPr algn="ctr">
              <a:lnSpc>
                <a:spcPts val="3710"/>
              </a:lnSpc>
            </a:pPr>
            <a:r>
              <a:rPr lang="en-US" sz="2650" spc="29">
                <a:solidFill>
                  <a:srgbClr val="000000"/>
                </a:solidFill>
                <a:latin typeface="DM Sans"/>
                <a:ea typeface="DM Sans"/>
                <a:cs typeface="DM Sans"/>
                <a:sym typeface="DM Sans"/>
              </a:rPr>
              <a:t>BIS15L | Group 11</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5871030" y="1484223"/>
            <a:ext cx="6545941"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Our Team</a:t>
            </a:r>
          </a:p>
        </p:txBody>
      </p:sp>
      <p:sp>
        <p:nvSpPr>
          <p:cNvPr name="Freeform 3" id="3"/>
          <p:cNvSpPr/>
          <p:nvPr/>
        </p:nvSpPr>
        <p:spPr>
          <a:xfrm flipH="false" flipV="false" rot="0">
            <a:off x="-1591031" y="5423594"/>
            <a:ext cx="4096029" cy="5968712"/>
          </a:xfrm>
          <a:custGeom>
            <a:avLst/>
            <a:gdLst/>
            <a:ahLst/>
            <a:cxnLst/>
            <a:rect r="r" b="b" t="t" l="l"/>
            <a:pathLst>
              <a:path h="5968712" w="4096029">
                <a:moveTo>
                  <a:pt x="0" y="0"/>
                </a:moveTo>
                <a:lnTo>
                  <a:pt x="4096029" y="0"/>
                </a:lnTo>
                <a:lnTo>
                  <a:pt x="4096029" y="5968712"/>
                </a:lnTo>
                <a:lnTo>
                  <a:pt x="0" y="5968712"/>
                </a:lnTo>
                <a:lnTo>
                  <a:pt x="0" y="0"/>
                </a:lnTo>
                <a:close/>
              </a:path>
            </a:pathLst>
          </a:custGeom>
          <a:blipFill>
            <a:blip r:embed="rId2"/>
            <a:stretch>
              <a:fillRect l="0" t="0" r="0" b="0"/>
            </a:stretch>
          </a:blipFill>
        </p:spPr>
      </p:sp>
      <p:sp>
        <p:nvSpPr>
          <p:cNvPr name="Freeform 4" id="4"/>
          <p:cNvSpPr/>
          <p:nvPr/>
        </p:nvSpPr>
        <p:spPr>
          <a:xfrm flipH="false" flipV="false" rot="0">
            <a:off x="-122667" y="8153273"/>
            <a:ext cx="3095439" cy="2515748"/>
          </a:xfrm>
          <a:custGeom>
            <a:avLst/>
            <a:gdLst/>
            <a:ahLst/>
            <a:cxnLst/>
            <a:rect r="r" b="b" t="t" l="l"/>
            <a:pathLst>
              <a:path h="2515748" w="3095439">
                <a:moveTo>
                  <a:pt x="0" y="0"/>
                </a:moveTo>
                <a:lnTo>
                  <a:pt x="3095439" y="0"/>
                </a:lnTo>
                <a:lnTo>
                  <a:pt x="3095439" y="2515747"/>
                </a:lnTo>
                <a:lnTo>
                  <a:pt x="0" y="251574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3815563" y="5647976"/>
            <a:ext cx="6085715" cy="5198895"/>
          </a:xfrm>
          <a:custGeom>
            <a:avLst/>
            <a:gdLst/>
            <a:ahLst/>
            <a:cxnLst/>
            <a:rect r="r" b="b" t="t" l="l"/>
            <a:pathLst>
              <a:path h="5198895" w="6085715">
                <a:moveTo>
                  <a:pt x="0" y="0"/>
                </a:moveTo>
                <a:lnTo>
                  <a:pt x="6085715" y="0"/>
                </a:lnTo>
                <a:lnTo>
                  <a:pt x="6085715" y="5198894"/>
                </a:lnTo>
                <a:lnTo>
                  <a:pt x="0" y="519889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8417238" y="8579079"/>
            <a:ext cx="8842062" cy="4179884"/>
          </a:xfrm>
          <a:custGeom>
            <a:avLst/>
            <a:gdLst/>
            <a:ahLst/>
            <a:cxnLst/>
            <a:rect r="r" b="b" t="t" l="l"/>
            <a:pathLst>
              <a:path h="4179884" w="8842062">
                <a:moveTo>
                  <a:pt x="0" y="0"/>
                </a:moveTo>
                <a:lnTo>
                  <a:pt x="8842062" y="0"/>
                </a:lnTo>
                <a:lnTo>
                  <a:pt x="8842062" y="4179883"/>
                </a:lnTo>
                <a:lnTo>
                  <a:pt x="0" y="417988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6309934">
            <a:off x="4472616" y="6610800"/>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9">
              <a:alphaModFix amt="38000"/>
              <a:extLst>
                <a:ext uri="{96DAC541-7B7A-43D3-8B79-37D633B846F1}">
                  <asvg:svgBlip xmlns:asvg="http://schemas.microsoft.com/office/drawing/2016/SVG/main" r:embed="rId10"/>
                </a:ext>
              </a:extLst>
            </a:blip>
            <a:stretch>
              <a:fillRect l="0" t="0" r="0" b="0"/>
            </a:stretch>
          </a:blipFill>
        </p:spPr>
      </p:sp>
      <p:sp>
        <p:nvSpPr>
          <p:cNvPr name="Freeform 8" id="8"/>
          <p:cNvSpPr/>
          <p:nvPr/>
        </p:nvSpPr>
        <p:spPr>
          <a:xfrm flipH="false" flipV="false" rot="0">
            <a:off x="-1591031" y="-1137320"/>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11"/>
            <a:stretch>
              <a:fillRect l="0" t="0" r="0" b="0"/>
            </a:stretch>
          </a:blipFill>
        </p:spPr>
      </p:sp>
      <p:sp>
        <p:nvSpPr>
          <p:cNvPr name="Freeform 9" id="9"/>
          <p:cNvSpPr/>
          <p:nvPr/>
        </p:nvSpPr>
        <p:spPr>
          <a:xfrm flipH="false" flipV="false" rot="-2157287">
            <a:off x="15856494" y="-206848"/>
            <a:ext cx="6584800" cy="7103695"/>
          </a:xfrm>
          <a:custGeom>
            <a:avLst/>
            <a:gdLst/>
            <a:ahLst/>
            <a:cxnLst/>
            <a:rect r="r" b="b" t="t" l="l"/>
            <a:pathLst>
              <a:path h="7103695" w="6584800">
                <a:moveTo>
                  <a:pt x="0" y="0"/>
                </a:moveTo>
                <a:lnTo>
                  <a:pt x="6584800" y="0"/>
                </a:lnTo>
                <a:lnTo>
                  <a:pt x="6584800" y="7103695"/>
                </a:lnTo>
                <a:lnTo>
                  <a:pt x="0" y="7103695"/>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0" id="10"/>
          <p:cNvSpPr/>
          <p:nvPr/>
        </p:nvSpPr>
        <p:spPr>
          <a:xfrm flipH="false" flipV="false" rot="-3055627">
            <a:off x="12099560" y="-984956"/>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9">
              <a:alphaModFix amt="38000"/>
              <a:extLst>
                <a:ext uri="{96DAC541-7B7A-43D3-8B79-37D633B846F1}">
                  <asvg:svgBlip xmlns:asvg="http://schemas.microsoft.com/office/drawing/2016/SVG/main" r:embed="rId10"/>
                </a:ext>
              </a:extLst>
            </a:blip>
            <a:stretch>
              <a:fillRect l="0" t="0" r="0" b="0"/>
            </a:stretch>
          </a:blipFill>
        </p:spPr>
      </p:sp>
      <p:grpSp>
        <p:nvGrpSpPr>
          <p:cNvPr name="Group 11" id="11"/>
          <p:cNvGrpSpPr/>
          <p:nvPr/>
        </p:nvGrpSpPr>
        <p:grpSpPr>
          <a:xfrm rot="0">
            <a:off x="3281798" y="2992509"/>
            <a:ext cx="11724404" cy="4301983"/>
            <a:chOff x="0" y="0"/>
            <a:chExt cx="15632538" cy="5735977"/>
          </a:xfrm>
        </p:grpSpPr>
        <p:sp>
          <p:nvSpPr>
            <p:cNvPr name="TextBox 12" id="12"/>
            <p:cNvSpPr txBox="true"/>
            <p:nvPr/>
          </p:nvSpPr>
          <p:spPr>
            <a:xfrm rot="0">
              <a:off x="0" y="1898041"/>
              <a:ext cx="15632538" cy="1798318"/>
            </a:xfrm>
            <a:prstGeom prst="rect">
              <a:avLst/>
            </a:prstGeom>
          </p:spPr>
          <p:txBody>
            <a:bodyPr anchor="t" rtlCol="false" tIns="0" lIns="0" bIns="0" rIns="0">
              <a:spAutoFit/>
            </a:bodyPr>
            <a:lstStyle/>
            <a:p>
              <a:pPr algn="ctr">
                <a:lnSpc>
                  <a:spcPts val="11433"/>
                </a:lnSpc>
              </a:pPr>
              <a:r>
                <a:rPr lang="en-US" sz="8167" spc="89">
                  <a:solidFill>
                    <a:srgbClr val="000000"/>
                  </a:solidFill>
                  <a:latin typeface="DM Sans"/>
                  <a:ea typeface="DM Sans"/>
                  <a:cs typeface="DM Sans"/>
                  <a:sym typeface="DM Sans"/>
                </a:rPr>
                <a:t>Alejandro Acevedo</a:t>
              </a:r>
            </a:p>
          </p:txBody>
        </p:sp>
        <p:sp>
          <p:nvSpPr>
            <p:cNvPr name="TextBox 13" id="13"/>
            <p:cNvSpPr txBox="true"/>
            <p:nvPr/>
          </p:nvSpPr>
          <p:spPr>
            <a:xfrm rot="0">
              <a:off x="0" y="-152400"/>
              <a:ext cx="15632538" cy="1806209"/>
            </a:xfrm>
            <a:prstGeom prst="rect">
              <a:avLst/>
            </a:prstGeom>
          </p:spPr>
          <p:txBody>
            <a:bodyPr anchor="t" rtlCol="false" tIns="0" lIns="0" bIns="0" rIns="0">
              <a:spAutoFit/>
            </a:bodyPr>
            <a:lstStyle/>
            <a:p>
              <a:pPr algn="ctr">
                <a:lnSpc>
                  <a:spcPts val="11433"/>
                </a:lnSpc>
              </a:pPr>
              <a:r>
                <a:rPr lang="en-US" sz="8167" spc="89">
                  <a:solidFill>
                    <a:srgbClr val="000000"/>
                  </a:solidFill>
                  <a:latin typeface="DM Sans"/>
                  <a:ea typeface="DM Sans"/>
                  <a:cs typeface="DM Sans"/>
                  <a:sym typeface="DM Sans"/>
                </a:rPr>
                <a:t>Vaishnavi Maganti</a:t>
              </a:r>
            </a:p>
          </p:txBody>
        </p:sp>
        <p:sp>
          <p:nvSpPr>
            <p:cNvPr name="TextBox 14" id="14"/>
            <p:cNvSpPr txBox="true"/>
            <p:nvPr/>
          </p:nvSpPr>
          <p:spPr>
            <a:xfrm rot="0">
              <a:off x="0" y="3937659"/>
              <a:ext cx="15632538" cy="1798318"/>
            </a:xfrm>
            <a:prstGeom prst="rect">
              <a:avLst/>
            </a:prstGeom>
          </p:spPr>
          <p:txBody>
            <a:bodyPr anchor="t" rtlCol="false" tIns="0" lIns="0" bIns="0" rIns="0">
              <a:spAutoFit/>
            </a:bodyPr>
            <a:lstStyle/>
            <a:p>
              <a:pPr algn="ctr">
                <a:lnSpc>
                  <a:spcPts val="11433"/>
                </a:lnSpc>
              </a:pPr>
              <a:r>
                <a:rPr lang="en-US" sz="8167" spc="89">
                  <a:solidFill>
                    <a:srgbClr val="000000"/>
                  </a:solidFill>
                  <a:latin typeface="DM Sans"/>
                  <a:ea typeface="DM Sans"/>
                  <a:cs typeface="DM Sans"/>
                  <a:sym typeface="DM Sans"/>
                </a:rPr>
                <a:t>Catalina De Amorrortu</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5871030" y="1175559"/>
            <a:ext cx="6545941"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Our Data and Goal </a:t>
            </a:r>
          </a:p>
        </p:txBody>
      </p:sp>
      <p:sp>
        <p:nvSpPr>
          <p:cNvPr name="Freeform 3" id="3"/>
          <p:cNvSpPr/>
          <p:nvPr/>
        </p:nvSpPr>
        <p:spPr>
          <a:xfrm flipH="false" flipV="false" rot="-1850127">
            <a:off x="16079385" y="1551784"/>
            <a:ext cx="4096029" cy="5968712"/>
          </a:xfrm>
          <a:custGeom>
            <a:avLst/>
            <a:gdLst/>
            <a:ahLst/>
            <a:cxnLst/>
            <a:rect r="r" b="b" t="t" l="l"/>
            <a:pathLst>
              <a:path h="5968712" w="4096029">
                <a:moveTo>
                  <a:pt x="0" y="0"/>
                </a:moveTo>
                <a:lnTo>
                  <a:pt x="4096029" y="0"/>
                </a:lnTo>
                <a:lnTo>
                  <a:pt x="4096029" y="5968712"/>
                </a:lnTo>
                <a:lnTo>
                  <a:pt x="0" y="5968712"/>
                </a:lnTo>
                <a:lnTo>
                  <a:pt x="0" y="0"/>
                </a:lnTo>
                <a:close/>
              </a:path>
            </a:pathLst>
          </a:custGeom>
          <a:blipFill>
            <a:blip r:embed="rId2"/>
            <a:stretch>
              <a:fillRect l="0" t="0" r="0" b="0"/>
            </a:stretch>
          </a:blipFill>
        </p:spPr>
      </p:sp>
      <p:sp>
        <p:nvSpPr>
          <p:cNvPr name="Freeform 4" id="4"/>
          <p:cNvSpPr/>
          <p:nvPr/>
        </p:nvSpPr>
        <p:spPr>
          <a:xfrm flipH="false" flipV="false" rot="0">
            <a:off x="-3147057" y="-920044"/>
            <a:ext cx="8842062" cy="4179884"/>
          </a:xfrm>
          <a:custGeom>
            <a:avLst/>
            <a:gdLst/>
            <a:ahLst/>
            <a:cxnLst/>
            <a:rect r="r" b="b" t="t" l="l"/>
            <a:pathLst>
              <a:path h="4179884" w="8842062">
                <a:moveTo>
                  <a:pt x="0" y="0"/>
                </a:moveTo>
                <a:lnTo>
                  <a:pt x="8842062" y="0"/>
                </a:lnTo>
                <a:lnTo>
                  <a:pt x="8842062" y="4179883"/>
                </a:lnTo>
                <a:lnTo>
                  <a:pt x="0" y="417988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6309934">
            <a:off x="6872212" y="7234794"/>
            <a:ext cx="2444779" cy="4309706"/>
          </a:xfrm>
          <a:custGeom>
            <a:avLst/>
            <a:gdLst/>
            <a:ahLst/>
            <a:cxnLst/>
            <a:rect r="r" b="b" t="t" l="l"/>
            <a:pathLst>
              <a:path h="4309706" w="2444779">
                <a:moveTo>
                  <a:pt x="0" y="0"/>
                </a:moveTo>
                <a:lnTo>
                  <a:pt x="2444779" y="0"/>
                </a:lnTo>
                <a:lnTo>
                  <a:pt x="2444779" y="4309706"/>
                </a:lnTo>
                <a:lnTo>
                  <a:pt x="0" y="4309706"/>
                </a:lnTo>
                <a:lnTo>
                  <a:pt x="0" y="0"/>
                </a:lnTo>
                <a:close/>
              </a:path>
            </a:pathLst>
          </a:custGeom>
          <a:blipFill>
            <a:blip r:embed="rId5">
              <a:alphaModFix amt="38000"/>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4069971" y="7646099"/>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7"/>
            <a:stretch>
              <a:fillRect l="0" t="0" r="0" b="0"/>
            </a:stretch>
          </a:blipFill>
        </p:spPr>
      </p:sp>
      <p:sp>
        <p:nvSpPr>
          <p:cNvPr name="Freeform 7" id="7"/>
          <p:cNvSpPr/>
          <p:nvPr/>
        </p:nvSpPr>
        <p:spPr>
          <a:xfrm flipH="false" flipV="false" rot="701334">
            <a:off x="-2704693" y="6087041"/>
            <a:ext cx="6584800" cy="7103695"/>
          </a:xfrm>
          <a:custGeom>
            <a:avLst/>
            <a:gdLst/>
            <a:ahLst/>
            <a:cxnLst/>
            <a:rect r="r" b="b" t="t" l="l"/>
            <a:pathLst>
              <a:path h="7103695" w="6584800">
                <a:moveTo>
                  <a:pt x="0" y="0"/>
                </a:moveTo>
                <a:lnTo>
                  <a:pt x="6584800" y="0"/>
                </a:lnTo>
                <a:lnTo>
                  <a:pt x="6584800" y="7103695"/>
                </a:lnTo>
                <a:lnTo>
                  <a:pt x="0" y="710369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3055627">
            <a:off x="12099560" y="-984956"/>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5">
              <a:alphaModFix amt="38000"/>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3604383" y="2390663"/>
            <a:ext cx="11079234" cy="5458049"/>
          </a:xfrm>
          <a:prstGeom prst="rect">
            <a:avLst/>
          </a:prstGeom>
        </p:spPr>
        <p:txBody>
          <a:bodyPr anchor="t" rtlCol="false" tIns="0" lIns="0" bIns="0" rIns="0">
            <a:spAutoFit/>
          </a:bodyPr>
          <a:lstStyle/>
          <a:p>
            <a:pPr algn="l">
              <a:lnSpc>
                <a:spcPts val="3137"/>
              </a:lnSpc>
            </a:pPr>
            <a:r>
              <a:rPr lang="en-US" sz="2241" i="true" spc="24">
                <a:solidFill>
                  <a:srgbClr val="000000"/>
                </a:solidFill>
                <a:latin typeface="DM Sans Italics"/>
                <a:ea typeface="DM Sans Italics"/>
                <a:cs typeface="DM Sans Italics"/>
                <a:sym typeface="DM Sans Italics"/>
              </a:rPr>
              <a:t>Meta-analysis of yield response of foliar fungicide-treated hybrid corn in the United States and Ontario, Canada </a:t>
            </a:r>
            <a:r>
              <a:rPr lang="en-US" sz="2241" spc="24">
                <a:solidFill>
                  <a:srgbClr val="000000"/>
                </a:solidFill>
                <a:latin typeface="DM Sans"/>
                <a:ea typeface="DM Sans"/>
                <a:cs typeface="DM Sans"/>
                <a:sym typeface="DM Sans"/>
              </a:rPr>
              <a:t>- Research conducted by Kiersten A. Wise et al. This research explores the effectiveness of different brands of fungicides on corn crops across the south midwestern U.S. and Ontario, Canada. </a:t>
            </a:r>
          </a:p>
          <a:p>
            <a:pPr algn="l">
              <a:lnSpc>
                <a:spcPts val="3137"/>
              </a:lnSpc>
            </a:pPr>
          </a:p>
          <a:p>
            <a:pPr algn="l">
              <a:lnSpc>
                <a:spcPts val="3137"/>
              </a:lnSpc>
            </a:pPr>
            <a:r>
              <a:rPr lang="en-US" sz="2241" spc="24">
                <a:solidFill>
                  <a:srgbClr val="000000"/>
                </a:solidFill>
                <a:latin typeface="DM Sans"/>
                <a:ea typeface="DM Sans"/>
                <a:cs typeface="DM Sans"/>
                <a:sym typeface="DM Sans"/>
              </a:rPr>
              <a:t>Our goal is to create a shiny app that will allow the user to input a state, and see what fungicide provided the highest yield, therefore determining the most effective fungicide for their use.</a:t>
            </a:r>
          </a:p>
          <a:p>
            <a:pPr algn="l">
              <a:lnSpc>
                <a:spcPts val="3137"/>
              </a:lnSpc>
            </a:pPr>
          </a:p>
          <a:p>
            <a:pPr algn="l">
              <a:lnSpc>
                <a:spcPts val="3137"/>
              </a:lnSpc>
            </a:pPr>
            <a:r>
              <a:rPr lang="en-US" sz="2241" spc="24">
                <a:solidFill>
                  <a:srgbClr val="000000"/>
                </a:solidFill>
                <a:latin typeface="DM Sans"/>
                <a:ea typeface="DM Sans"/>
                <a:cs typeface="DM Sans"/>
                <a:sym typeface="DM Sans"/>
              </a:rPr>
              <a:t>Limitations of this study and our exploration include the locations, as only 13 US states and one Canadian province are tested. The data is also limited to only two years, so there is a chance for new, more effective fungicides to hae come to the market, and also for fungicide-resistant strains of fungi to have risen and continue to affect crops despite fungicide use.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3885241" y="1175559"/>
            <a:ext cx="10517519"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name="Freeform 3" id="3"/>
          <p:cNvSpPr/>
          <p:nvPr/>
        </p:nvSpPr>
        <p:spPr>
          <a:xfrm flipH="false" flipV="false" rot="0">
            <a:off x="7600880" y="7022105"/>
            <a:ext cx="6085715" cy="5198895"/>
          </a:xfrm>
          <a:custGeom>
            <a:avLst/>
            <a:gdLst/>
            <a:ahLst/>
            <a:cxnLst/>
            <a:rect r="r" b="b" t="t" l="l"/>
            <a:pathLst>
              <a:path h="5198895" w="6085715">
                <a:moveTo>
                  <a:pt x="0" y="0"/>
                </a:moveTo>
                <a:lnTo>
                  <a:pt x="6085715" y="0"/>
                </a:lnTo>
                <a:lnTo>
                  <a:pt x="6085715" y="5198895"/>
                </a:lnTo>
                <a:lnTo>
                  <a:pt x="0" y="519889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3949981" y="-1057258"/>
            <a:ext cx="8842062" cy="4179884"/>
          </a:xfrm>
          <a:custGeom>
            <a:avLst/>
            <a:gdLst/>
            <a:ahLst/>
            <a:cxnLst/>
            <a:rect r="r" b="b" t="t" l="l"/>
            <a:pathLst>
              <a:path h="4179884" w="8842062">
                <a:moveTo>
                  <a:pt x="0" y="0"/>
                </a:moveTo>
                <a:lnTo>
                  <a:pt x="8842061" y="0"/>
                </a:lnTo>
                <a:lnTo>
                  <a:pt x="8842061" y="4179884"/>
                </a:lnTo>
                <a:lnTo>
                  <a:pt x="0" y="417988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6309934">
            <a:off x="-482499" y="2571256"/>
            <a:ext cx="2444779" cy="4309706"/>
          </a:xfrm>
          <a:custGeom>
            <a:avLst/>
            <a:gdLst/>
            <a:ahLst/>
            <a:cxnLst/>
            <a:rect r="r" b="b" t="t" l="l"/>
            <a:pathLst>
              <a:path h="4309706" w="2444779">
                <a:moveTo>
                  <a:pt x="0" y="0"/>
                </a:moveTo>
                <a:lnTo>
                  <a:pt x="2444778" y="0"/>
                </a:lnTo>
                <a:lnTo>
                  <a:pt x="2444778" y="4309707"/>
                </a:lnTo>
                <a:lnTo>
                  <a:pt x="0" y="4309707"/>
                </a:lnTo>
                <a:lnTo>
                  <a:pt x="0" y="0"/>
                </a:lnTo>
                <a:close/>
              </a:path>
            </a:pathLst>
          </a:custGeom>
          <a:blipFill>
            <a:blip r:embed="rId6">
              <a:alphaModFix amt="38000"/>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2647527" y="6861291"/>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8"/>
            <a:stretch>
              <a:fillRect l="0" t="0" r="0" b="0"/>
            </a:stretch>
          </a:blipFill>
        </p:spPr>
      </p:sp>
      <p:sp>
        <p:nvSpPr>
          <p:cNvPr name="Freeform 7" id="7"/>
          <p:cNvSpPr/>
          <p:nvPr/>
        </p:nvSpPr>
        <p:spPr>
          <a:xfrm flipH="false" flipV="false" rot="-2157287">
            <a:off x="15442182" y="5706453"/>
            <a:ext cx="6584800" cy="7103695"/>
          </a:xfrm>
          <a:custGeom>
            <a:avLst/>
            <a:gdLst/>
            <a:ahLst/>
            <a:cxnLst/>
            <a:rect r="r" b="b" t="t" l="l"/>
            <a:pathLst>
              <a:path h="7103695" w="6584800">
                <a:moveTo>
                  <a:pt x="0" y="0"/>
                </a:moveTo>
                <a:lnTo>
                  <a:pt x="6584800" y="0"/>
                </a:lnTo>
                <a:lnTo>
                  <a:pt x="6584800" y="7103694"/>
                </a:lnTo>
                <a:lnTo>
                  <a:pt x="0" y="710369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8" id="8"/>
          <p:cNvSpPr/>
          <p:nvPr/>
        </p:nvSpPr>
        <p:spPr>
          <a:xfrm flipH="false" flipV="false" rot="-3055627">
            <a:off x="15623761" y="-603070"/>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6">
              <a:alphaModFix amt="38000"/>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8131247" y="2417651"/>
            <a:ext cx="9128053" cy="5762083"/>
          </a:xfrm>
          <a:custGeom>
            <a:avLst/>
            <a:gdLst/>
            <a:ahLst/>
            <a:cxnLst/>
            <a:rect r="r" b="b" t="t" l="l"/>
            <a:pathLst>
              <a:path h="5762083" w="9128053">
                <a:moveTo>
                  <a:pt x="0" y="0"/>
                </a:moveTo>
                <a:lnTo>
                  <a:pt x="9128053" y="0"/>
                </a:lnTo>
                <a:lnTo>
                  <a:pt x="9128053" y="5762084"/>
                </a:lnTo>
                <a:lnTo>
                  <a:pt x="0" y="5762084"/>
                </a:lnTo>
                <a:lnTo>
                  <a:pt x="0" y="0"/>
                </a:lnTo>
                <a:close/>
              </a:path>
            </a:pathLst>
          </a:custGeom>
          <a:blipFill>
            <a:blip r:embed="rId11"/>
            <a:stretch>
              <a:fillRect l="0" t="0" r="0" b="0"/>
            </a:stretch>
          </a:blipFill>
        </p:spPr>
      </p:sp>
      <p:sp>
        <p:nvSpPr>
          <p:cNvPr name="TextBox 10" id="10"/>
          <p:cNvSpPr txBox="true"/>
          <p:nvPr/>
        </p:nvSpPr>
        <p:spPr>
          <a:xfrm rot="0">
            <a:off x="1968525" y="2889764"/>
            <a:ext cx="5632355" cy="4459848"/>
          </a:xfrm>
          <a:prstGeom prst="rect">
            <a:avLst/>
          </a:prstGeom>
        </p:spPr>
        <p:txBody>
          <a:bodyPr anchor="t" rtlCol="false" tIns="0" lIns="0" bIns="0" rIns="0">
            <a:spAutoFit/>
          </a:bodyPr>
          <a:lstStyle/>
          <a:p>
            <a:pPr algn="l" marL="548480" indent="-274240" lvl="1">
              <a:lnSpc>
                <a:spcPts val="3556"/>
              </a:lnSpc>
              <a:buFont typeface="Arial"/>
              <a:buChar char="•"/>
            </a:pPr>
            <a:r>
              <a:rPr lang="en-US" sz="2540" spc="27">
                <a:solidFill>
                  <a:srgbClr val="000000"/>
                </a:solidFill>
                <a:latin typeface="DM Sans"/>
                <a:ea typeface="DM Sans"/>
                <a:cs typeface="DM Sans"/>
                <a:sym typeface="DM Sans"/>
              </a:rPr>
              <a:t>Fungicide effectiveness by state.</a:t>
            </a:r>
          </a:p>
          <a:p>
            <a:pPr algn="l" marL="1096961" indent="-365654" lvl="2">
              <a:lnSpc>
                <a:spcPts val="3556"/>
              </a:lnSpc>
              <a:buFont typeface="Arial"/>
              <a:buChar char="⚬"/>
            </a:pPr>
            <a:r>
              <a:rPr lang="en-US" sz="2540" spc="27">
                <a:solidFill>
                  <a:srgbClr val="000000"/>
                </a:solidFill>
                <a:latin typeface="DM Sans"/>
                <a:ea typeface="DM Sans"/>
                <a:cs typeface="DM Sans"/>
                <a:sym typeface="DM Sans"/>
              </a:rPr>
              <a:t>Comparing the change in treated and untreated yields by fungicide per state.</a:t>
            </a:r>
          </a:p>
          <a:p>
            <a:pPr algn="l" marL="1096961" indent="-365654" lvl="2">
              <a:lnSpc>
                <a:spcPts val="3556"/>
              </a:lnSpc>
              <a:buFont typeface="Arial"/>
              <a:buChar char="⚬"/>
            </a:pPr>
            <a:r>
              <a:rPr lang="en-US" sz="2540" spc="27">
                <a:solidFill>
                  <a:srgbClr val="000000"/>
                </a:solidFill>
                <a:latin typeface="DM Sans"/>
                <a:ea typeface="DM Sans"/>
                <a:cs typeface="DM Sans"/>
                <a:sym typeface="DM Sans"/>
              </a:rPr>
              <a:t>We see that MD, SD, and ND have almost no effective treatments, and all states except AR, GA, and LA have at least one fungicide that does not work</a:t>
            </a:r>
            <a:r>
              <a:rPr lang="en-US" sz="2540" spc="27">
                <a:solidFill>
                  <a:srgbClr val="000000"/>
                </a:solidFill>
                <a:latin typeface="DM Sans"/>
                <a:ea typeface="DM Sans"/>
                <a:cs typeface="DM Sans"/>
                <a:sym typeface="DM Sans"/>
              </a:rPr>
              <a:t> </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5871030" y="1175559"/>
            <a:ext cx="6545941"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name="Freeform 3" id="3"/>
          <p:cNvSpPr/>
          <p:nvPr/>
        </p:nvSpPr>
        <p:spPr>
          <a:xfrm flipH="false" flipV="false" rot="2245136">
            <a:off x="-1744725" y="-335865"/>
            <a:ext cx="4096029" cy="5968712"/>
          </a:xfrm>
          <a:custGeom>
            <a:avLst/>
            <a:gdLst/>
            <a:ahLst/>
            <a:cxnLst/>
            <a:rect r="r" b="b" t="t" l="l"/>
            <a:pathLst>
              <a:path h="5968712" w="4096029">
                <a:moveTo>
                  <a:pt x="0" y="0"/>
                </a:moveTo>
                <a:lnTo>
                  <a:pt x="4096029" y="0"/>
                </a:lnTo>
                <a:lnTo>
                  <a:pt x="4096029" y="5968712"/>
                </a:lnTo>
                <a:lnTo>
                  <a:pt x="0" y="5968712"/>
                </a:lnTo>
                <a:lnTo>
                  <a:pt x="0" y="0"/>
                </a:lnTo>
                <a:close/>
              </a:path>
            </a:pathLst>
          </a:custGeom>
          <a:blipFill>
            <a:blip r:embed="rId2"/>
            <a:stretch>
              <a:fillRect l="0" t="0" r="0" b="0"/>
            </a:stretch>
          </a:blipFill>
        </p:spPr>
      </p:sp>
      <p:sp>
        <p:nvSpPr>
          <p:cNvPr name="Freeform 4" id="4"/>
          <p:cNvSpPr/>
          <p:nvPr/>
        </p:nvSpPr>
        <p:spPr>
          <a:xfrm flipH="false" flipV="false" rot="0">
            <a:off x="14691439" y="-441006"/>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3"/>
            <a:stretch>
              <a:fillRect l="0" t="0" r="0" b="0"/>
            </a:stretch>
          </a:blipFill>
        </p:spPr>
      </p:sp>
      <p:sp>
        <p:nvSpPr>
          <p:cNvPr name="Freeform 5" id="5"/>
          <p:cNvSpPr/>
          <p:nvPr/>
        </p:nvSpPr>
        <p:spPr>
          <a:xfrm flipH="false" flipV="false" rot="-3055627">
            <a:off x="12099560" y="-984956"/>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4">
              <a:alphaModFix amt="38000"/>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1893619" y="2438965"/>
            <a:ext cx="14500762" cy="1207378"/>
          </a:xfrm>
          <a:prstGeom prst="rect">
            <a:avLst/>
          </a:prstGeom>
        </p:spPr>
        <p:txBody>
          <a:bodyPr anchor="t" rtlCol="false" tIns="0" lIns="0" bIns="0" rIns="0">
            <a:spAutoFit/>
          </a:bodyPr>
          <a:lstStyle/>
          <a:p>
            <a:pPr algn="l" marL="505302" indent="-252651" lvl="1">
              <a:lnSpc>
                <a:spcPts val="3276"/>
              </a:lnSpc>
              <a:buFont typeface="Arial"/>
              <a:buChar char="•"/>
            </a:pPr>
            <a:r>
              <a:rPr lang="en-US" sz="2340" spc="25">
                <a:solidFill>
                  <a:srgbClr val="000000"/>
                </a:solidFill>
                <a:latin typeface="DM Sans"/>
                <a:ea typeface="DM Sans"/>
                <a:cs typeface="DM Sans"/>
                <a:sym typeface="DM Sans"/>
              </a:rPr>
              <a:t>Fungicide resistance</a:t>
            </a:r>
          </a:p>
          <a:p>
            <a:pPr algn="l" marL="1010603" indent="-336868" lvl="2">
              <a:lnSpc>
                <a:spcPts val="3276"/>
              </a:lnSpc>
              <a:buFont typeface="Arial"/>
              <a:buChar char="⚬"/>
            </a:pPr>
            <a:r>
              <a:rPr lang="en-US" sz="2340" spc="25">
                <a:solidFill>
                  <a:srgbClr val="000000"/>
                </a:solidFill>
                <a:latin typeface="DM Sans"/>
                <a:ea typeface="DM Sans"/>
                <a:cs typeface="DM Sans"/>
                <a:sym typeface="DM Sans"/>
              </a:rPr>
              <a:t>Comparing the change in the total disease by fungicide and state in 2014 and 2015, we can determine if any fungicide-resistant strains appeared</a:t>
            </a:r>
          </a:p>
        </p:txBody>
      </p:sp>
      <p:sp>
        <p:nvSpPr>
          <p:cNvPr name="TextBox 7" id="7"/>
          <p:cNvSpPr txBox="true"/>
          <p:nvPr/>
        </p:nvSpPr>
        <p:spPr>
          <a:xfrm rot="0">
            <a:off x="1893619" y="9678175"/>
            <a:ext cx="14500762" cy="348223"/>
          </a:xfrm>
          <a:prstGeom prst="rect">
            <a:avLst/>
          </a:prstGeom>
        </p:spPr>
        <p:txBody>
          <a:bodyPr anchor="t" rtlCol="false" tIns="0" lIns="0" bIns="0" rIns="0">
            <a:spAutoFit/>
          </a:bodyPr>
          <a:lstStyle/>
          <a:p>
            <a:pPr algn="ctr">
              <a:lnSpc>
                <a:spcPts val="2856"/>
              </a:lnSpc>
            </a:pPr>
            <a:r>
              <a:rPr lang="en-US" sz="2040" spc="22">
                <a:solidFill>
                  <a:srgbClr val="000000"/>
                </a:solidFill>
                <a:latin typeface="DM Sans"/>
                <a:ea typeface="DM Sans"/>
                <a:cs typeface="DM Sans"/>
                <a:sym typeface="DM Sans"/>
              </a:rPr>
              <a:t>*IL was not tested in 2015, so it has been removed from the 2015 graphs.* </a:t>
            </a:r>
          </a:p>
        </p:txBody>
      </p:sp>
      <p:grpSp>
        <p:nvGrpSpPr>
          <p:cNvPr name="Group 8" id="8"/>
          <p:cNvGrpSpPr/>
          <p:nvPr/>
        </p:nvGrpSpPr>
        <p:grpSpPr>
          <a:xfrm rot="0">
            <a:off x="596264" y="3912743"/>
            <a:ext cx="17095472" cy="5066208"/>
            <a:chOff x="0" y="0"/>
            <a:chExt cx="22793962" cy="6754944"/>
          </a:xfrm>
        </p:grpSpPr>
        <p:sp>
          <p:nvSpPr>
            <p:cNvPr name="Freeform 9" id="9"/>
            <p:cNvSpPr/>
            <p:nvPr/>
          </p:nvSpPr>
          <p:spPr>
            <a:xfrm flipH="false" flipV="false" rot="0">
              <a:off x="12453003" y="0"/>
              <a:ext cx="10340959" cy="6744235"/>
            </a:xfrm>
            <a:custGeom>
              <a:avLst/>
              <a:gdLst/>
              <a:ahLst/>
              <a:cxnLst/>
              <a:rect r="r" b="b" t="t" l="l"/>
              <a:pathLst>
                <a:path h="6744235" w="10340959">
                  <a:moveTo>
                    <a:pt x="0" y="0"/>
                  </a:moveTo>
                  <a:lnTo>
                    <a:pt x="10340959" y="0"/>
                  </a:lnTo>
                  <a:lnTo>
                    <a:pt x="10340959" y="6744235"/>
                  </a:lnTo>
                  <a:lnTo>
                    <a:pt x="0" y="6744235"/>
                  </a:lnTo>
                  <a:lnTo>
                    <a:pt x="0" y="0"/>
                  </a:lnTo>
                  <a:close/>
                </a:path>
              </a:pathLst>
            </a:custGeom>
            <a:blipFill>
              <a:blip r:embed="rId6"/>
              <a:stretch>
                <a:fillRect l="0" t="0" r="-8697" b="0"/>
              </a:stretch>
            </a:blipFill>
          </p:spPr>
        </p:sp>
        <p:sp>
          <p:nvSpPr>
            <p:cNvPr name="Freeform 10" id="10"/>
            <p:cNvSpPr/>
            <p:nvPr/>
          </p:nvSpPr>
          <p:spPr>
            <a:xfrm flipH="false" flipV="false" rot="0">
              <a:off x="0" y="0"/>
              <a:ext cx="10508658" cy="6754944"/>
            </a:xfrm>
            <a:custGeom>
              <a:avLst/>
              <a:gdLst/>
              <a:ahLst/>
              <a:cxnLst/>
              <a:rect r="r" b="b" t="t" l="l"/>
              <a:pathLst>
                <a:path h="6754944" w="10508658">
                  <a:moveTo>
                    <a:pt x="0" y="0"/>
                  </a:moveTo>
                  <a:lnTo>
                    <a:pt x="10508658" y="0"/>
                  </a:lnTo>
                  <a:lnTo>
                    <a:pt x="10508658" y="6754944"/>
                  </a:lnTo>
                  <a:lnTo>
                    <a:pt x="0" y="6754944"/>
                  </a:lnTo>
                  <a:lnTo>
                    <a:pt x="0" y="0"/>
                  </a:lnTo>
                  <a:close/>
                </a:path>
              </a:pathLst>
            </a:custGeom>
            <a:blipFill>
              <a:blip r:embed="rId7"/>
              <a:stretch>
                <a:fillRect l="0" t="0" r="-3468" b="0"/>
              </a:stretch>
            </a:blipFill>
          </p:spPr>
        </p:sp>
      </p:grpSp>
      <p:grpSp>
        <p:nvGrpSpPr>
          <p:cNvPr name="Group 11" id="11"/>
          <p:cNvGrpSpPr/>
          <p:nvPr/>
        </p:nvGrpSpPr>
        <p:grpSpPr>
          <a:xfrm rot="0">
            <a:off x="3324993" y="9281552"/>
            <a:ext cx="11638015" cy="434723"/>
            <a:chOff x="0" y="0"/>
            <a:chExt cx="15517353" cy="579631"/>
          </a:xfrm>
        </p:grpSpPr>
        <p:sp>
          <p:nvSpPr>
            <p:cNvPr name="TextBox 12" id="12"/>
            <p:cNvSpPr txBox="true"/>
            <p:nvPr/>
          </p:nvSpPr>
          <p:spPr>
            <a:xfrm rot="0">
              <a:off x="0" y="-57150"/>
              <a:ext cx="1345441" cy="636781"/>
            </a:xfrm>
            <a:prstGeom prst="rect">
              <a:avLst/>
            </a:prstGeom>
          </p:spPr>
          <p:txBody>
            <a:bodyPr anchor="t" rtlCol="false" tIns="0" lIns="0" bIns="0" rIns="0">
              <a:spAutoFit/>
            </a:bodyPr>
            <a:lstStyle/>
            <a:p>
              <a:pPr algn="ctr">
                <a:lnSpc>
                  <a:spcPts val="4035"/>
                </a:lnSpc>
              </a:pPr>
              <a:r>
                <a:rPr lang="en-US" sz="2882" spc="31">
                  <a:solidFill>
                    <a:srgbClr val="000000"/>
                  </a:solidFill>
                  <a:latin typeface="DM Sans"/>
                  <a:ea typeface="DM Sans"/>
                  <a:cs typeface="DM Sans"/>
                  <a:sym typeface="DM Sans"/>
                </a:rPr>
                <a:t>2014</a:t>
              </a:r>
            </a:p>
          </p:txBody>
        </p:sp>
        <p:sp>
          <p:nvSpPr>
            <p:cNvPr name="TextBox 13" id="13"/>
            <p:cNvSpPr txBox="true"/>
            <p:nvPr/>
          </p:nvSpPr>
          <p:spPr>
            <a:xfrm rot="0">
              <a:off x="14171912" y="-57150"/>
              <a:ext cx="1345441" cy="636781"/>
            </a:xfrm>
            <a:prstGeom prst="rect">
              <a:avLst/>
            </a:prstGeom>
          </p:spPr>
          <p:txBody>
            <a:bodyPr anchor="t" rtlCol="false" tIns="0" lIns="0" bIns="0" rIns="0">
              <a:spAutoFit/>
            </a:bodyPr>
            <a:lstStyle/>
            <a:p>
              <a:pPr algn="ctr">
                <a:lnSpc>
                  <a:spcPts val="4035"/>
                </a:lnSpc>
              </a:pPr>
              <a:r>
                <a:rPr lang="en-US" sz="2882" spc="31">
                  <a:solidFill>
                    <a:srgbClr val="000000"/>
                  </a:solidFill>
                  <a:latin typeface="DM Sans"/>
                  <a:ea typeface="DM Sans"/>
                  <a:cs typeface="DM Sans"/>
                  <a:sym typeface="DM Sans"/>
                </a:rPr>
                <a:t>2015</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5871030" y="1175559"/>
            <a:ext cx="6545941"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name="Freeform 3" id="3"/>
          <p:cNvSpPr/>
          <p:nvPr/>
        </p:nvSpPr>
        <p:spPr>
          <a:xfrm flipH="false" flipV="false" rot="1128197">
            <a:off x="-3432716" y="3242221"/>
            <a:ext cx="5568916" cy="8114996"/>
          </a:xfrm>
          <a:custGeom>
            <a:avLst/>
            <a:gdLst/>
            <a:ahLst/>
            <a:cxnLst/>
            <a:rect r="r" b="b" t="t" l="l"/>
            <a:pathLst>
              <a:path h="8114996" w="5568916">
                <a:moveTo>
                  <a:pt x="0" y="0"/>
                </a:moveTo>
                <a:lnTo>
                  <a:pt x="5568916" y="0"/>
                </a:lnTo>
                <a:lnTo>
                  <a:pt x="5568916" y="8114997"/>
                </a:lnTo>
                <a:lnTo>
                  <a:pt x="0" y="8114997"/>
                </a:lnTo>
                <a:lnTo>
                  <a:pt x="0" y="0"/>
                </a:lnTo>
                <a:close/>
              </a:path>
            </a:pathLst>
          </a:custGeom>
          <a:blipFill>
            <a:blip r:embed="rId2"/>
            <a:stretch>
              <a:fillRect l="0" t="0" r="0" b="0"/>
            </a:stretch>
          </a:blipFill>
        </p:spPr>
      </p:sp>
      <p:sp>
        <p:nvSpPr>
          <p:cNvPr name="Freeform 4" id="4"/>
          <p:cNvSpPr/>
          <p:nvPr/>
        </p:nvSpPr>
        <p:spPr>
          <a:xfrm flipH="true" flipV="false" rot="0">
            <a:off x="13815563" y="5647976"/>
            <a:ext cx="6085715" cy="5198895"/>
          </a:xfrm>
          <a:custGeom>
            <a:avLst/>
            <a:gdLst/>
            <a:ahLst/>
            <a:cxnLst/>
            <a:rect r="r" b="b" t="t" l="l"/>
            <a:pathLst>
              <a:path h="5198895" w="6085715">
                <a:moveTo>
                  <a:pt x="6085715" y="0"/>
                </a:moveTo>
                <a:lnTo>
                  <a:pt x="0" y="0"/>
                </a:lnTo>
                <a:lnTo>
                  <a:pt x="0" y="5198894"/>
                </a:lnTo>
                <a:lnTo>
                  <a:pt x="6085715" y="5198894"/>
                </a:lnTo>
                <a:lnTo>
                  <a:pt x="6085715"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5192561" y="8153273"/>
            <a:ext cx="3095439" cy="2515748"/>
          </a:xfrm>
          <a:custGeom>
            <a:avLst/>
            <a:gdLst/>
            <a:ahLst/>
            <a:cxnLst/>
            <a:rect r="r" b="b" t="t" l="l"/>
            <a:pathLst>
              <a:path h="2515748" w="3095439">
                <a:moveTo>
                  <a:pt x="0" y="0"/>
                </a:moveTo>
                <a:lnTo>
                  <a:pt x="3095439" y="0"/>
                </a:lnTo>
                <a:lnTo>
                  <a:pt x="3095439" y="2515747"/>
                </a:lnTo>
                <a:lnTo>
                  <a:pt x="0" y="25157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6309934">
            <a:off x="-413824" y="-1482130"/>
            <a:ext cx="2444779" cy="4309706"/>
          </a:xfrm>
          <a:custGeom>
            <a:avLst/>
            <a:gdLst/>
            <a:ahLst/>
            <a:cxnLst/>
            <a:rect r="r" b="b" t="t" l="l"/>
            <a:pathLst>
              <a:path h="4309706" w="2444779">
                <a:moveTo>
                  <a:pt x="0" y="0"/>
                </a:moveTo>
                <a:lnTo>
                  <a:pt x="2444779" y="0"/>
                </a:lnTo>
                <a:lnTo>
                  <a:pt x="2444779" y="4309706"/>
                </a:lnTo>
                <a:lnTo>
                  <a:pt x="0" y="4309706"/>
                </a:lnTo>
                <a:lnTo>
                  <a:pt x="0" y="0"/>
                </a:lnTo>
                <a:close/>
              </a:path>
            </a:pathLst>
          </a:custGeom>
          <a:blipFill>
            <a:blip r:embed="rId7">
              <a:alphaModFix amt="38000"/>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0">
            <a:off x="14900583" y="2070883"/>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9"/>
            <a:stretch>
              <a:fillRect l="0" t="0" r="0" b="0"/>
            </a:stretch>
          </a:blipFill>
        </p:spPr>
      </p:sp>
      <p:sp>
        <p:nvSpPr>
          <p:cNvPr name="Freeform 8" id="8"/>
          <p:cNvSpPr/>
          <p:nvPr/>
        </p:nvSpPr>
        <p:spPr>
          <a:xfrm flipH="false" flipV="false" rot="-366772">
            <a:off x="609721" y="7872240"/>
            <a:ext cx="6584800" cy="7103695"/>
          </a:xfrm>
          <a:custGeom>
            <a:avLst/>
            <a:gdLst/>
            <a:ahLst/>
            <a:cxnLst/>
            <a:rect r="r" b="b" t="t" l="l"/>
            <a:pathLst>
              <a:path h="7103695" w="6584800">
                <a:moveTo>
                  <a:pt x="0" y="0"/>
                </a:moveTo>
                <a:lnTo>
                  <a:pt x="6584800" y="0"/>
                </a:lnTo>
                <a:lnTo>
                  <a:pt x="6584800" y="7103695"/>
                </a:lnTo>
                <a:lnTo>
                  <a:pt x="0" y="710369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9" id="9"/>
          <p:cNvSpPr/>
          <p:nvPr/>
        </p:nvSpPr>
        <p:spPr>
          <a:xfrm flipH="false" flipV="false" rot="-3055627">
            <a:off x="13192640" y="-1482130"/>
            <a:ext cx="2444779" cy="4309706"/>
          </a:xfrm>
          <a:custGeom>
            <a:avLst/>
            <a:gdLst/>
            <a:ahLst/>
            <a:cxnLst/>
            <a:rect r="r" b="b" t="t" l="l"/>
            <a:pathLst>
              <a:path h="4309706" w="2444779">
                <a:moveTo>
                  <a:pt x="0" y="0"/>
                </a:moveTo>
                <a:lnTo>
                  <a:pt x="2444778" y="0"/>
                </a:lnTo>
                <a:lnTo>
                  <a:pt x="2444778" y="4309706"/>
                </a:lnTo>
                <a:lnTo>
                  <a:pt x="0" y="4309706"/>
                </a:lnTo>
                <a:lnTo>
                  <a:pt x="0" y="0"/>
                </a:lnTo>
                <a:close/>
              </a:path>
            </a:pathLst>
          </a:custGeom>
          <a:blipFill>
            <a:blip r:embed="rId7">
              <a:alphaModFix amt="38000"/>
              <a:extLst>
                <a:ext uri="{96DAC541-7B7A-43D3-8B79-37D633B846F1}">
                  <asvg:svgBlip xmlns:asvg="http://schemas.microsoft.com/office/drawing/2016/SVG/main" r:embed="rId8"/>
                </a:ext>
              </a:extLst>
            </a:blip>
            <a:stretch>
              <a:fillRect l="0" t="0" r="0" b="0"/>
            </a:stretch>
          </a:blipFill>
        </p:spPr>
      </p:sp>
      <p:sp>
        <p:nvSpPr>
          <p:cNvPr name="TextBox 10" id="10"/>
          <p:cNvSpPr txBox="true"/>
          <p:nvPr/>
        </p:nvSpPr>
        <p:spPr>
          <a:xfrm rot="0">
            <a:off x="4251698" y="2364636"/>
            <a:ext cx="9692596" cy="355189"/>
          </a:xfrm>
          <a:prstGeom prst="rect">
            <a:avLst/>
          </a:prstGeom>
        </p:spPr>
        <p:txBody>
          <a:bodyPr anchor="t" rtlCol="false" tIns="0" lIns="0" bIns="0" rIns="0">
            <a:spAutoFit/>
          </a:bodyPr>
          <a:lstStyle/>
          <a:p>
            <a:pPr algn="l" marL="462283" indent="-231141" lvl="1">
              <a:lnSpc>
                <a:spcPts val="2997"/>
              </a:lnSpc>
              <a:buFont typeface="Arial"/>
              <a:buChar char="•"/>
            </a:pPr>
            <a:r>
              <a:rPr lang="en-US" sz="2141" spc="23">
                <a:solidFill>
                  <a:srgbClr val="000000"/>
                </a:solidFill>
                <a:latin typeface="DM Sans"/>
                <a:ea typeface="DM Sans"/>
                <a:cs typeface="DM Sans"/>
                <a:sym typeface="DM Sans"/>
              </a:rPr>
              <a:t>Overall, which fungicide provides us with the highest yield of corn?</a:t>
            </a:r>
          </a:p>
        </p:txBody>
      </p:sp>
      <p:sp>
        <p:nvSpPr>
          <p:cNvPr name="Freeform 11" id="11"/>
          <p:cNvSpPr/>
          <p:nvPr/>
        </p:nvSpPr>
        <p:spPr>
          <a:xfrm flipH="false" flipV="false" rot="0">
            <a:off x="3969139" y="2929633"/>
            <a:ext cx="10349722" cy="6481514"/>
          </a:xfrm>
          <a:custGeom>
            <a:avLst/>
            <a:gdLst/>
            <a:ahLst/>
            <a:cxnLst/>
            <a:rect r="r" b="b" t="t" l="l"/>
            <a:pathLst>
              <a:path h="6481514" w="10349722">
                <a:moveTo>
                  <a:pt x="0" y="0"/>
                </a:moveTo>
                <a:lnTo>
                  <a:pt x="10349722" y="0"/>
                </a:lnTo>
                <a:lnTo>
                  <a:pt x="10349722" y="6481513"/>
                </a:lnTo>
                <a:lnTo>
                  <a:pt x="0" y="6481513"/>
                </a:lnTo>
                <a:lnTo>
                  <a:pt x="0" y="0"/>
                </a:lnTo>
                <a:close/>
              </a:path>
            </a:pathLst>
          </a:custGeom>
          <a:blipFill>
            <a:blip r:embed="rId12"/>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5871030" y="1175559"/>
            <a:ext cx="6545941"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name="Freeform 3" id="3"/>
          <p:cNvSpPr/>
          <p:nvPr/>
        </p:nvSpPr>
        <p:spPr>
          <a:xfrm flipH="false" flipV="false" rot="0">
            <a:off x="15437201" y="5168917"/>
            <a:ext cx="4096029" cy="5968712"/>
          </a:xfrm>
          <a:custGeom>
            <a:avLst/>
            <a:gdLst/>
            <a:ahLst/>
            <a:cxnLst/>
            <a:rect r="r" b="b" t="t" l="l"/>
            <a:pathLst>
              <a:path h="5968712" w="4096029">
                <a:moveTo>
                  <a:pt x="0" y="0"/>
                </a:moveTo>
                <a:lnTo>
                  <a:pt x="4096029" y="0"/>
                </a:lnTo>
                <a:lnTo>
                  <a:pt x="4096029" y="5968712"/>
                </a:lnTo>
                <a:lnTo>
                  <a:pt x="0" y="5968712"/>
                </a:lnTo>
                <a:lnTo>
                  <a:pt x="0" y="0"/>
                </a:lnTo>
                <a:close/>
              </a:path>
            </a:pathLst>
          </a:custGeom>
          <a:blipFill>
            <a:blip r:embed="rId2"/>
            <a:stretch>
              <a:fillRect l="0" t="0" r="0" b="0"/>
            </a:stretch>
          </a:blipFill>
        </p:spPr>
      </p:sp>
      <p:sp>
        <p:nvSpPr>
          <p:cNvPr name="Freeform 4" id="4"/>
          <p:cNvSpPr/>
          <p:nvPr/>
        </p:nvSpPr>
        <p:spPr>
          <a:xfrm flipH="false" flipV="false" rot="0">
            <a:off x="15192561" y="7993454"/>
            <a:ext cx="3095439" cy="2515748"/>
          </a:xfrm>
          <a:custGeom>
            <a:avLst/>
            <a:gdLst/>
            <a:ahLst/>
            <a:cxnLst/>
            <a:rect r="r" b="b" t="t" l="l"/>
            <a:pathLst>
              <a:path h="2515748" w="3095439">
                <a:moveTo>
                  <a:pt x="0" y="0"/>
                </a:moveTo>
                <a:lnTo>
                  <a:pt x="3095439" y="0"/>
                </a:lnTo>
                <a:lnTo>
                  <a:pt x="3095439" y="2515748"/>
                </a:lnTo>
                <a:lnTo>
                  <a:pt x="0" y="251574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6309934">
            <a:off x="-706287" y="2736981"/>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5">
              <a:alphaModFix amt="38000"/>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591031" y="-1137320"/>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7"/>
            <a:stretch>
              <a:fillRect l="0" t="0" r="0" b="0"/>
            </a:stretch>
          </a:blipFill>
        </p:spPr>
      </p:sp>
      <p:sp>
        <p:nvSpPr>
          <p:cNvPr name="Freeform 7" id="7"/>
          <p:cNvSpPr/>
          <p:nvPr/>
        </p:nvSpPr>
        <p:spPr>
          <a:xfrm flipH="false" flipV="false" rot="943891">
            <a:off x="-2171960" y="6735153"/>
            <a:ext cx="6584800" cy="7103695"/>
          </a:xfrm>
          <a:custGeom>
            <a:avLst/>
            <a:gdLst/>
            <a:ahLst/>
            <a:cxnLst/>
            <a:rect r="r" b="b" t="t" l="l"/>
            <a:pathLst>
              <a:path h="7103695" w="6584800">
                <a:moveTo>
                  <a:pt x="0" y="0"/>
                </a:moveTo>
                <a:lnTo>
                  <a:pt x="6584800" y="0"/>
                </a:lnTo>
                <a:lnTo>
                  <a:pt x="6584800" y="7103694"/>
                </a:lnTo>
                <a:lnTo>
                  <a:pt x="0" y="710369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3055627">
            <a:off x="12099560" y="-984956"/>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5">
              <a:alphaModFix amt="38000"/>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6309934">
            <a:off x="9122475" y="8132147"/>
            <a:ext cx="2444779" cy="4309706"/>
          </a:xfrm>
          <a:custGeom>
            <a:avLst/>
            <a:gdLst/>
            <a:ahLst/>
            <a:cxnLst/>
            <a:rect r="r" b="b" t="t" l="l"/>
            <a:pathLst>
              <a:path h="4309706" w="2444779">
                <a:moveTo>
                  <a:pt x="0" y="0"/>
                </a:moveTo>
                <a:lnTo>
                  <a:pt x="2444779" y="0"/>
                </a:lnTo>
                <a:lnTo>
                  <a:pt x="2444779" y="4309706"/>
                </a:lnTo>
                <a:lnTo>
                  <a:pt x="0" y="4309706"/>
                </a:lnTo>
                <a:lnTo>
                  <a:pt x="0" y="0"/>
                </a:lnTo>
                <a:close/>
              </a:path>
            </a:pathLst>
          </a:custGeom>
          <a:blipFill>
            <a:blip r:embed="rId5">
              <a:alphaModFix amt="38000"/>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false" flipV="false" rot="0">
            <a:off x="4414226" y="2848259"/>
            <a:ext cx="9459549" cy="5711202"/>
          </a:xfrm>
          <a:custGeom>
            <a:avLst/>
            <a:gdLst/>
            <a:ahLst/>
            <a:cxnLst/>
            <a:rect r="r" b="b" t="t" l="l"/>
            <a:pathLst>
              <a:path h="5711202" w="9459549">
                <a:moveTo>
                  <a:pt x="0" y="0"/>
                </a:moveTo>
                <a:lnTo>
                  <a:pt x="9459548" y="0"/>
                </a:lnTo>
                <a:lnTo>
                  <a:pt x="9459548" y="5711202"/>
                </a:lnTo>
                <a:lnTo>
                  <a:pt x="0" y="5711202"/>
                </a:lnTo>
                <a:lnTo>
                  <a:pt x="0" y="0"/>
                </a:lnTo>
                <a:close/>
              </a:path>
            </a:pathLst>
          </a:custGeom>
          <a:blipFill>
            <a:blip r:embed="rId10"/>
            <a:stretch>
              <a:fillRect l="0" t="0" r="0" b="0"/>
            </a:stretch>
          </a:blipFill>
        </p:spPr>
      </p:sp>
      <p:sp>
        <p:nvSpPr>
          <p:cNvPr name="TextBox 11" id="11"/>
          <p:cNvSpPr txBox="true"/>
          <p:nvPr/>
        </p:nvSpPr>
        <p:spPr>
          <a:xfrm rot="0">
            <a:off x="2815287" y="2201975"/>
            <a:ext cx="12657426" cy="446807"/>
          </a:xfrm>
          <a:prstGeom prst="rect">
            <a:avLst/>
          </a:prstGeom>
        </p:spPr>
        <p:txBody>
          <a:bodyPr anchor="t" rtlCol="false" tIns="0" lIns="0" bIns="0" rIns="0">
            <a:spAutoFit/>
          </a:bodyPr>
          <a:lstStyle/>
          <a:p>
            <a:pPr algn="ctr" marL="574115" indent="-287057" lvl="1">
              <a:lnSpc>
                <a:spcPts val="3722"/>
              </a:lnSpc>
              <a:buFont typeface="Arial"/>
              <a:buChar char="•"/>
            </a:pPr>
            <a:r>
              <a:rPr lang="en-US" sz="2659" spc="29">
                <a:solidFill>
                  <a:srgbClr val="000000"/>
                </a:solidFill>
                <a:latin typeface="DM Sans"/>
                <a:ea typeface="DM Sans"/>
                <a:cs typeface="DM Sans"/>
                <a:sym typeface="DM Sans"/>
              </a:rPr>
              <a:t>Overall, which fungicide treats the highest amount of diseases/fungi?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TextBox 2" id="2"/>
          <p:cNvSpPr txBox="true"/>
          <p:nvPr/>
        </p:nvSpPr>
        <p:spPr>
          <a:xfrm rot="0">
            <a:off x="5871030" y="4767275"/>
            <a:ext cx="6545941" cy="895324"/>
          </a:xfrm>
          <a:prstGeom prst="rect">
            <a:avLst/>
          </a:prstGeom>
        </p:spPr>
        <p:txBody>
          <a:bodyPr anchor="t" rtlCol="false" tIns="0" lIns="0" bIns="0" rIns="0">
            <a:spAutoFit/>
          </a:bodyPr>
          <a:lstStyle/>
          <a:p>
            <a:pPr algn="ctr">
              <a:lnSpc>
                <a:spcPts val="6641"/>
              </a:lnSpc>
            </a:pPr>
            <a:r>
              <a:rPr lang="en-US" sz="6846">
                <a:solidFill>
                  <a:srgbClr val="3F771E"/>
                </a:solidFill>
                <a:latin typeface="Chau Philomene"/>
                <a:ea typeface="Chau Philomene"/>
                <a:cs typeface="Chau Philomene"/>
                <a:sym typeface="Chau Philomene"/>
              </a:rPr>
              <a:t>Shiny App</a:t>
            </a:r>
          </a:p>
        </p:txBody>
      </p:sp>
      <p:sp>
        <p:nvSpPr>
          <p:cNvPr name="Freeform 3" id="3"/>
          <p:cNvSpPr/>
          <p:nvPr/>
        </p:nvSpPr>
        <p:spPr>
          <a:xfrm flipH="false" flipV="false" rot="0">
            <a:off x="-122667" y="8153273"/>
            <a:ext cx="3095439" cy="2515748"/>
          </a:xfrm>
          <a:custGeom>
            <a:avLst/>
            <a:gdLst/>
            <a:ahLst/>
            <a:cxnLst/>
            <a:rect r="r" b="b" t="t" l="l"/>
            <a:pathLst>
              <a:path h="2515748" w="3095439">
                <a:moveTo>
                  <a:pt x="0" y="0"/>
                </a:moveTo>
                <a:lnTo>
                  <a:pt x="3095439" y="0"/>
                </a:lnTo>
                <a:lnTo>
                  <a:pt x="3095439" y="2515747"/>
                </a:lnTo>
                <a:lnTo>
                  <a:pt x="0" y="251574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5602321" y="5553825"/>
            <a:ext cx="6085715" cy="5198895"/>
          </a:xfrm>
          <a:custGeom>
            <a:avLst/>
            <a:gdLst/>
            <a:ahLst/>
            <a:cxnLst/>
            <a:rect r="r" b="b" t="t" l="l"/>
            <a:pathLst>
              <a:path h="5198895" w="6085715">
                <a:moveTo>
                  <a:pt x="0" y="0"/>
                </a:moveTo>
                <a:lnTo>
                  <a:pt x="6085715" y="0"/>
                </a:lnTo>
                <a:lnTo>
                  <a:pt x="6085715" y="5198895"/>
                </a:lnTo>
                <a:lnTo>
                  <a:pt x="0" y="51988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3451132" y="-1965167"/>
            <a:ext cx="8842062" cy="4179884"/>
          </a:xfrm>
          <a:custGeom>
            <a:avLst/>
            <a:gdLst/>
            <a:ahLst/>
            <a:cxnLst/>
            <a:rect r="r" b="b" t="t" l="l"/>
            <a:pathLst>
              <a:path h="4179884" w="8842062">
                <a:moveTo>
                  <a:pt x="0" y="0"/>
                </a:moveTo>
                <a:lnTo>
                  <a:pt x="8842061" y="0"/>
                </a:lnTo>
                <a:lnTo>
                  <a:pt x="8842061" y="4179883"/>
                </a:lnTo>
                <a:lnTo>
                  <a:pt x="0" y="417988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6309934">
            <a:off x="4327607" y="7256293"/>
            <a:ext cx="2444779" cy="4309706"/>
          </a:xfrm>
          <a:custGeom>
            <a:avLst/>
            <a:gdLst/>
            <a:ahLst/>
            <a:cxnLst/>
            <a:rect r="r" b="b" t="t" l="l"/>
            <a:pathLst>
              <a:path h="4309706" w="2444779">
                <a:moveTo>
                  <a:pt x="0" y="0"/>
                </a:moveTo>
                <a:lnTo>
                  <a:pt x="2444778" y="0"/>
                </a:lnTo>
                <a:lnTo>
                  <a:pt x="2444778" y="4309707"/>
                </a:lnTo>
                <a:lnTo>
                  <a:pt x="0" y="4309707"/>
                </a:lnTo>
                <a:lnTo>
                  <a:pt x="0" y="0"/>
                </a:lnTo>
                <a:close/>
              </a:path>
            </a:pathLst>
          </a:custGeom>
          <a:blipFill>
            <a:blip r:embed="rId8">
              <a:alphaModFix amt="38000"/>
              <a:extLst>
                <a:ext uri="{96DAC541-7B7A-43D3-8B79-37D633B846F1}">
                  <asvg:svgBlip xmlns:asvg="http://schemas.microsoft.com/office/drawing/2016/SVG/main" r:embed="rId9"/>
                </a:ext>
              </a:extLst>
            </a:blip>
            <a:stretch>
              <a:fillRect l="0" t="0" r="0" b="0"/>
            </a:stretch>
          </a:blipFill>
        </p:spPr>
      </p:sp>
      <p:sp>
        <p:nvSpPr>
          <p:cNvPr name="Freeform 7" id="7"/>
          <p:cNvSpPr/>
          <p:nvPr/>
        </p:nvSpPr>
        <p:spPr>
          <a:xfrm flipH="false" flipV="false" rot="0">
            <a:off x="-3387417" y="3875858"/>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10"/>
            <a:stretch>
              <a:fillRect l="0" t="0" r="0" b="0"/>
            </a:stretch>
          </a:blipFill>
        </p:spPr>
      </p:sp>
      <p:sp>
        <p:nvSpPr>
          <p:cNvPr name="Freeform 8" id="8"/>
          <p:cNvSpPr/>
          <p:nvPr/>
        </p:nvSpPr>
        <p:spPr>
          <a:xfrm flipH="false" flipV="false" rot="-2157287">
            <a:off x="11099364" y="7934387"/>
            <a:ext cx="6584800" cy="7103695"/>
          </a:xfrm>
          <a:custGeom>
            <a:avLst/>
            <a:gdLst/>
            <a:ahLst/>
            <a:cxnLst/>
            <a:rect r="r" b="b" t="t" l="l"/>
            <a:pathLst>
              <a:path h="7103695" w="6584800">
                <a:moveTo>
                  <a:pt x="0" y="0"/>
                </a:moveTo>
                <a:lnTo>
                  <a:pt x="6584800" y="0"/>
                </a:lnTo>
                <a:lnTo>
                  <a:pt x="6584800" y="7103695"/>
                </a:lnTo>
                <a:lnTo>
                  <a:pt x="0" y="710369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9" id="9"/>
          <p:cNvSpPr/>
          <p:nvPr/>
        </p:nvSpPr>
        <p:spPr>
          <a:xfrm flipH="false" flipV="false" rot="-3055627">
            <a:off x="12099560" y="-984956"/>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8">
              <a:alphaModFix amt="38000"/>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3055627">
            <a:off x="-693009" y="-1412593"/>
            <a:ext cx="2444779" cy="4309706"/>
          </a:xfrm>
          <a:custGeom>
            <a:avLst/>
            <a:gdLst/>
            <a:ahLst/>
            <a:cxnLst/>
            <a:rect r="r" b="b" t="t" l="l"/>
            <a:pathLst>
              <a:path h="4309706" w="2444779">
                <a:moveTo>
                  <a:pt x="0" y="0"/>
                </a:moveTo>
                <a:lnTo>
                  <a:pt x="2444779" y="0"/>
                </a:lnTo>
                <a:lnTo>
                  <a:pt x="2444779" y="4309707"/>
                </a:lnTo>
                <a:lnTo>
                  <a:pt x="0" y="4309707"/>
                </a:lnTo>
                <a:lnTo>
                  <a:pt x="0" y="0"/>
                </a:lnTo>
                <a:close/>
              </a:path>
            </a:pathLst>
          </a:custGeom>
          <a:blipFill>
            <a:blip r:embed="rId8">
              <a:alphaModFix amt="38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EF6F3"/>
        </a:solidFill>
      </p:bgPr>
    </p:bg>
    <p:spTree>
      <p:nvGrpSpPr>
        <p:cNvPr id="1" name=""/>
        <p:cNvGrpSpPr/>
        <p:nvPr/>
      </p:nvGrpSpPr>
      <p:grpSpPr>
        <a:xfrm>
          <a:off x="0" y="0"/>
          <a:ext cx="0" cy="0"/>
          <a:chOff x="0" y="0"/>
          <a:chExt cx="0" cy="0"/>
        </a:xfrm>
      </p:grpSpPr>
      <p:sp>
        <p:nvSpPr>
          <p:cNvPr name="Freeform 2" id="2"/>
          <p:cNvSpPr/>
          <p:nvPr/>
        </p:nvSpPr>
        <p:spPr>
          <a:xfrm flipH="false" flipV="false" rot="0">
            <a:off x="-1591031" y="3162706"/>
            <a:ext cx="5647563" cy="8229600"/>
          </a:xfrm>
          <a:custGeom>
            <a:avLst/>
            <a:gdLst/>
            <a:ahLst/>
            <a:cxnLst/>
            <a:rect r="r" b="b" t="t" l="l"/>
            <a:pathLst>
              <a:path h="8229600" w="5647563">
                <a:moveTo>
                  <a:pt x="0" y="0"/>
                </a:moveTo>
                <a:lnTo>
                  <a:pt x="5647563" y="0"/>
                </a:lnTo>
                <a:lnTo>
                  <a:pt x="5647563" y="8229600"/>
                </a:lnTo>
                <a:lnTo>
                  <a:pt x="0" y="8229600"/>
                </a:lnTo>
                <a:lnTo>
                  <a:pt x="0" y="0"/>
                </a:lnTo>
                <a:close/>
              </a:path>
            </a:pathLst>
          </a:custGeom>
          <a:blipFill>
            <a:blip r:embed="rId2"/>
            <a:stretch>
              <a:fillRect l="0" t="0" r="0" b="0"/>
            </a:stretch>
          </a:blipFill>
        </p:spPr>
      </p:sp>
      <p:sp>
        <p:nvSpPr>
          <p:cNvPr name="TextBox 3" id="3"/>
          <p:cNvSpPr txBox="true"/>
          <p:nvPr/>
        </p:nvSpPr>
        <p:spPr>
          <a:xfrm rot="0">
            <a:off x="3346374" y="4086119"/>
            <a:ext cx="11595253" cy="2344052"/>
          </a:xfrm>
          <a:prstGeom prst="rect">
            <a:avLst/>
          </a:prstGeom>
        </p:spPr>
        <p:txBody>
          <a:bodyPr anchor="t" rtlCol="false" tIns="0" lIns="0" bIns="0" rIns="0">
            <a:spAutoFit/>
          </a:bodyPr>
          <a:lstStyle/>
          <a:p>
            <a:pPr algn="ctr">
              <a:lnSpc>
                <a:spcPts val="17426"/>
              </a:lnSpc>
            </a:pPr>
            <a:r>
              <a:rPr lang="en-US" sz="17965">
                <a:solidFill>
                  <a:srgbClr val="3F771E"/>
                </a:solidFill>
                <a:latin typeface="Chau Philomene"/>
                <a:ea typeface="Chau Philomene"/>
                <a:cs typeface="Chau Philomene"/>
                <a:sym typeface="Chau Philomene"/>
              </a:rPr>
              <a:t>Thank You</a:t>
            </a:r>
          </a:p>
        </p:txBody>
      </p:sp>
      <p:sp>
        <p:nvSpPr>
          <p:cNvPr name="Freeform 4" id="4"/>
          <p:cNvSpPr/>
          <p:nvPr/>
        </p:nvSpPr>
        <p:spPr>
          <a:xfrm flipH="false" flipV="false" rot="0">
            <a:off x="7570193" y="8939973"/>
            <a:ext cx="7315200" cy="3458095"/>
          </a:xfrm>
          <a:custGeom>
            <a:avLst/>
            <a:gdLst/>
            <a:ahLst/>
            <a:cxnLst/>
            <a:rect r="r" b="b" t="t" l="l"/>
            <a:pathLst>
              <a:path h="3458095" w="7315200">
                <a:moveTo>
                  <a:pt x="0" y="0"/>
                </a:moveTo>
                <a:lnTo>
                  <a:pt x="7315200" y="0"/>
                </a:lnTo>
                <a:lnTo>
                  <a:pt x="7315200" y="3458095"/>
                </a:lnTo>
                <a:lnTo>
                  <a:pt x="0" y="3458095"/>
                </a:lnTo>
                <a:lnTo>
                  <a:pt x="0" y="0"/>
                </a:lnTo>
                <a:close/>
              </a:path>
            </a:pathLst>
          </a:custGeom>
          <a:blipFill>
            <a:blip r:embed="rId3">
              <a:alphaModFix amt="37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3966900" y="5423594"/>
            <a:ext cx="6584800" cy="7103695"/>
          </a:xfrm>
          <a:custGeom>
            <a:avLst/>
            <a:gdLst/>
            <a:ahLst/>
            <a:cxnLst/>
            <a:rect r="r" b="b" t="t" l="l"/>
            <a:pathLst>
              <a:path h="7103695" w="6584800">
                <a:moveTo>
                  <a:pt x="0" y="0"/>
                </a:moveTo>
                <a:lnTo>
                  <a:pt x="6584800" y="0"/>
                </a:lnTo>
                <a:lnTo>
                  <a:pt x="6584800" y="7103695"/>
                </a:lnTo>
                <a:lnTo>
                  <a:pt x="0" y="71036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22667" y="6554220"/>
            <a:ext cx="5062953" cy="4114800"/>
          </a:xfrm>
          <a:custGeom>
            <a:avLst/>
            <a:gdLst/>
            <a:ahLst/>
            <a:cxnLst/>
            <a:rect r="r" b="b" t="t" l="l"/>
            <a:pathLst>
              <a:path h="4114800" w="5062953">
                <a:moveTo>
                  <a:pt x="0" y="0"/>
                </a:moveTo>
                <a:lnTo>
                  <a:pt x="5062953" y="0"/>
                </a:lnTo>
                <a:lnTo>
                  <a:pt x="5062953" y="4114800"/>
                </a:lnTo>
                <a:lnTo>
                  <a:pt x="0" y="41148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3516996">
            <a:off x="14320434" y="-2372404"/>
            <a:ext cx="6669405" cy="8229600"/>
          </a:xfrm>
          <a:custGeom>
            <a:avLst/>
            <a:gdLst/>
            <a:ahLst/>
            <a:cxnLst/>
            <a:rect r="r" b="b" t="t" l="l"/>
            <a:pathLst>
              <a:path h="8229600" w="6669405">
                <a:moveTo>
                  <a:pt x="0" y="0"/>
                </a:moveTo>
                <a:lnTo>
                  <a:pt x="6669405" y="0"/>
                </a:lnTo>
                <a:lnTo>
                  <a:pt x="6669405" y="8229600"/>
                </a:lnTo>
                <a:lnTo>
                  <a:pt x="0" y="8229600"/>
                </a:lnTo>
                <a:lnTo>
                  <a:pt x="0" y="0"/>
                </a:lnTo>
                <a:close/>
              </a:path>
            </a:pathLst>
          </a:custGeom>
          <a:blipFill>
            <a:blip r:embed="rId9"/>
            <a:stretch>
              <a:fillRect l="0" t="0" r="0" b="0"/>
            </a:stretch>
          </a:blipFill>
        </p:spPr>
      </p:sp>
      <p:sp>
        <p:nvSpPr>
          <p:cNvPr name="Freeform 8" id="8"/>
          <p:cNvSpPr/>
          <p:nvPr/>
        </p:nvSpPr>
        <p:spPr>
          <a:xfrm flipH="false" flipV="false" rot="0">
            <a:off x="3234023" y="7277506"/>
            <a:ext cx="4816697" cy="4114800"/>
          </a:xfrm>
          <a:custGeom>
            <a:avLst/>
            <a:gdLst/>
            <a:ahLst/>
            <a:cxnLst/>
            <a:rect r="r" b="b" t="t" l="l"/>
            <a:pathLst>
              <a:path h="4114800" w="4816697">
                <a:moveTo>
                  <a:pt x="0" y="0"/>
                </a:moveTo>
                <a:lnTo>
                  <a:pt x="4816697" y="0"/>
                </a:lnTo>
                <a:lnTo>
                  <a:pt x="4816697"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9" id="9"/>
          <p:cNvSpPr/>
          <p:nvPr/>
        </p:nvSpPr>
        <p:spPr>
          <a:xfrm flipH="false" flipV="false" rot="6309934">
            <a:off x="7417961" y="-2077549"/>
            <a:ext cx="2687667" cy="4737875"/>
          </a:xfrm>
          <a:custGeom>
            <a:avLst/>
            <a:gdLst/>
            <a:ahLst/>
            <a:cxnLst/>
            <a:rect r="r" b="b" t="t" l="l"/>
            <a:pathLst>
              <a:path h="4737875" w="2687667">
                <a:moveTo>
                  <a:pt x="0" y="0"/>
                </a:moveTo>
                <a:lnTo>
                  <a:pt x="2687667" y="0"/>
                </a:lnTo>
                <a:lnTo>
                  <a:pt x="2687667" y="4737875"/>
                </a:lnTo>
                <a:lnTo>
                  <a:pt x="0" y="4737875"/>
                </a:lnTo>
                <a:lnTo>
                  <a:pt x="0" y="0"/>
                </a:lnTo>
                <a:close/>
              </a:path>
            </a:pathLst>
          </a:custGeom>
          <a:blipFill>
            <a:blip r:embed="rId12">
              <a:alphaModFix amt="38000"/>
              <a:extLst>
                <a:ext uri="{96DAC541-7B7A-43D3-8B79-37D633B846F1}">
                  <asvg:svgBlip xmlns:asvg="http://schemas.microsoft.com/office/drawing/2016/SVG/main" r:embed="rId13"/>
                </a:ext>
              </a:extLst>
            </a:blip>
            <a:stretch>
              <a:fillRect l="0" t="0" r="0" b="0"/>
            </a:stretch>
          </a:blipFill>
        </p:spPr>
      </p:sp>
      <p:sp>
        <p:nvSpPr>
          <p:cNvPr name="Freeform 10" id="10"/>
          <p:cNvSpPr/>
          <p:nvPr/>
        </p:nvSpPr>
        <p:spPr>
          <a:xfrm flipH="false" flipV="false" rot="0">
            <a:off x="-1591031" y="-1137320"/>
            <a:ext cx="6774834" cy="3985579"/>
          </a:xfrm>
          <a:custGeom>
            <a:avLst/>
            <a:gdLst/>
            <a:ahLst/>
            <a:cxnLst/>
            <a:rect r="r" b="b" t="t" l="l"/>
            <a:pathLst>
              <a:path h="3985579" w="6774834">
                <a:moveTo>
                  <a:pt x="0" y="0"/>
                </a:moveTo>
                <a:lnTo>
                  <a:pt x="6774834" y="0"/>
                </a:lnTo>
                <a:lnTo>
                  <a:pt x="6774834" y="3985579"/>
                </a:lnTo>
                <a:lnTo>
                  <a:pt x="0" y="3985579"/>
                </a:lnTo>
                <a:lnTo>
                  <a:pt x="0" y="0"/>
                </a:lnTo>
                <a:close/>
              </a:path>
            </a:pathLst>
          </a:custGeom>
          <a:blipFill>
            <a:blip r:embed="rId14"/>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DAHDk4frQ-E</dc:identifier>
  <dcterms:modified xsi:type="dcterms:W3CDTF">2011-08-01T06:04:30Z</dcterms:modified>
  <cp:revision>1</cp:revision>
  <dc:title>FUNGICIDE EXPLORATION</dc:title>
</cp:coreProperties>
</file>